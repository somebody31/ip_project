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57" d="100"/>
          <a:sy n="57" d="100"/>
        </p:scale>
        <p:origin x="924" y="3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930DA9-C565-1730-690F-81687E3353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73E6B4-DE2D-079A-830F-5C2C9A5CDA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DE9093-BF33-77FA-23D2-BD96ACB37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EDFEBA-2E6A-E67E-3E11-02CC7AC7BD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5F9770-7F84-E639-C196-09D96CB1EE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E3EAC7-AA10-E6EA-92BA-8A095E2D19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CFA2F-4FA6-7CC9-F620-20E9E679DD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AB4D77-1BF4-ED32-3206-B0259B17A5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766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0379259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2793104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6230198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113694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758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9349281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9754295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5479551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0621696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77682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734776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974394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7960444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2741331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1790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8113486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8991226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8014389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11535258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7970044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77991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1302967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352343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9994663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680498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24818179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126299418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0160410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4572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636041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210013037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2614385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20960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193076495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407657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85514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9020874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61712452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176386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140532106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6617454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45106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8464169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IN"/>
          </a:p>
        </p:txBody>
      </p:sp>
      <p:sp>
        <p:nvSpPr>
          <p:cNvPr id="140349736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810823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194819843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23843805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4317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300513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21408543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19896944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278286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56349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9471188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2728846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4784254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8663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09369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322027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68610018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200957064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8816087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948235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sz="4400"/>
              <a:t>Seeing Through Fog</a:t>
            </a:r>
            <a:endParaRPr lang="en-IN"/>
          </a:p>
        </p:txBody>
      </p:sp>
      <p:sp>
        <p:nvSpPr>
          <p:cNvPr id="1110596678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sz="1800"/>
              <a:t>Clearer photos, so cars and people can still be found in fog</a:t>
            </a:r>
            <a:endParaRPr lang="en-IN"/>
          </a:p>
          <a:p>
            <a:pPr>
              <a:defRPr/>
            </a:pPr>
            <a:r>
              <a:rPr sz="1800"/>
              <a:t>Vishal-24XV1M6606</a:t>
            </a:r>
            <a:endParaRPr/>
          </a:p>
          <a:p>
            <a:pPr>
              <a:defRPr/>
            </a:pPr>
            <a:r>
              <a:rPr sz="1800"/>
              <a:t>Chetan-24XV1M6608</a:t>
            </a:r>
            <a:endParaRPr/>
          </a:p>
          <a:p>
            <a:pPr>
              <a:defRPr/>
            </a:pPr>
            <a:r>
              <a:rPr sz="1800"/>
              <a:t>Sathwik-24XV1M6645</a:t>
            </a:r>
            <a:endParaRPr/>
          </a:p>
          <a:p>
            <a:pPr>
              <a:defRPr/>
            </a:pPr>
            <a:r>
              <a:rPr sz="1800"/>
              <a:t>Based on: ADAM-Dehaze (arXiv:2506.15837) - our rebuild + improvement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9621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Motivation</a:t>
            </a:r>
            <a:endParaRPr lang="en-IN"/>
          </a:p>
        </p:txBody>
      </p:sp>
      <p:sp>
        <p:nvSpPr>
          <p:cNvPr id="164102789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 b="0"/>
              <a:t>Fog hides objects in photos. Self-driving cars, traffic cameras and security systems all depend on photos.</a:t>
            </a:r>
            <a:endParaRPr/>
          </a:p>
          <a:p>
            <a:pPr>
              <a:defRPr/>
            </a:pPr>
            <a:r>
              <a:rPr sz="2000" b="0"/>
              <a:t>Their object detectors were trained on clear days, so in fog they miss cars and people, or see things that aren't there.</a:t>
            </a:r>
            <a:endParaRPr/>
          </a:p>
          <a:p>
            <a:pPr>
              <a:defRPr/>
            </a:pPr>
            <a:r>
              <a:rPr sz="2000" b="0"/>
              <a:t>Removing the fog is not the real goal - keeping the detector working is. In our test photo of a bus in heavy fog, it found 3 objects before dehazing and 7 after.</a:t>
            </a:r>
            <a:endParaRPr/>
          </a:p>
          <a:p>
            <a:pPr>
              <a:defRPr/>
            </a:pPr>
            <a:r>
              <a:rPr sz="2000" b="1"/>
              <a:t>New application we will target</a:t>
            </a:r>
            <a:endParaRPr/>
          </a:p>
          <a:p>
            <a:pPr lvl="1">
              <a:defRPr/>
            </a:pPr>
            <a:r>
              <a:rPr sz="1700" b="0"/>
              <a:t>Phone camera cleanup: one tap could clear the fog from a photo.</a:t>
            </a:r>
            <a:endParaRPr/>
          </a:p>
          <a:p>
            <a:pPr lvl="1">
              <a:defRPr/>
            </a:pPr>
            <a:r>
              <a:rPr sz="1700" b="0"/>
              <a:t>Drones and security cameras could keep tracking in bad weather.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0170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Objective</a:t>
            </a:r>
            <a:endParaRPr lang="en-IN"/>
          </a:p>
        </p:txBody>
      </p:sp>
      <p:sp>
        <p:nvSpPr>
          <p:cNvPr id="20085487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 b="1"/>
              <a:t>AIM</a:t>
            </a:r>
            <a:endParaRPr lang="en-IN"/>
          </a:p>
          <a:p>
            <a:pPr>
              <a:defRPr/>
            </a:pPr>
            <a:r>
              <a:rPr sz="2000" b="0"/>
              <a:t>Rebuild the paper's fog-removal system, then improve it.</a:t>
            </a:r>
            <a:endParaRPr/>
          </a:p>
          <a:p>
            <a:pPr>
              <a:defRPr/>
            </a:pPr>
            <a:r>
              <a:rPr sz="2000" b="1"/>
              <a:t>WHAT WE WILL DO</a:t>
            </a:r>
            <a:endParaRPr/>
          </a:p>
          <a:p>
            <a:pPr lvl="1">
              <a:defRPr/>
            </a:pPr>
            <a:r>
              <a:rPr sz="1700" b="0"/>
              <a:t>A fog judge scores how foggy each photo is, sends it to the matching cleaner, then auto-checks the result.</a:t>
            </a:r>
            <a:endParaRPr/>
          </a:p>
          <a:p>
            <a:pPr lvl="1">
              <a:defRPr/>
            </a:pPr>
            <a:r>
              <a:rPr sz="1700" b="0"/>
              <a:t>Try two cleaners side by side - the textbook recipe and the learner - and score both the same way.</a:t>
            </a:r>
            <a:endParaRPr/>
          </a:p>
          <a:p>
            <a:pPr>
              <a:defRPr/>
            </a:pPr>
            <a:r>
              <a:rPr sz="2000" b="1"/>
              <a:t>OUTCOME</a:t>
            </a:r>
            <a:endParaRPr/>
          </a:p>
          <a:p>
            <a:pPr lvl="1">
              <a:defRPr/>
            </a:pPr>
            <a:r>
              <a:rPr sz="1700" b="0"/>
              <a:t>We will produce cleaner photos and score them against the original clean photo.</a:t>
            </a:r>
            <a:endParaRPr/>
          </a:p>
          <a:p>
            <a:pPr lvl="1">
              <a:defRPr/>
            </a:pPr>
            <a:r>
              <a:rPr sz="1700" b="0"/>
              <a:t>We want fewer missed cars and people, plus a scoreboard that compares the fixed recipe against our learner.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195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Method 1: the textbook fix (DCP)</a:t>
            </a:r>
            <a:endParaRPr lang="en-IN"/>
          </a:p>
        </p:txBody>
      </p:sp>
      <p:sp>
        <p:nvSpPr>
          <p:cNvPr id="56208248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 b="1"/>
              <a:t>HOW IT WORKS — Dark Channel Prior, no learning</a:t>
            </a:r>
            <a:endParaRPr/>
          </a:p>
          <a:p>
            <a:pPr lvl="1">
              <a:defRPr/>
            </a:pPr>
            <a:r>
              <a:rPr sz="1700" b="0"/>
              <a:t>Step 1 finds the fog colour from the foggiest pixels.</a:t>
            </a:r>
            <a:endParaRPr/>
          </a:p>
          <a:p>
            <a:pPr lvl="1">
              <a:defRPr/>
            </a:pPr>
            <a:r>
              <a:rPr sz="1700" b="0"/>
              <a:t>Step 2 guesses how much fog sits on each pixel (dark channel).</a:t>
            </a:r>
            <a:endParaRPr/>
          </a:p>
          <a:p>
            <a:pPr lvl="1">
              <a:defRPr/>
            </a:pPr>
            <a:r>
              <a:rPr sz="1700" b="0"/>
              <a:t>Step 3 subtracts the fog to recover the clear photo.</a:t>
            </a:r>
            <a:endParaRPr/>
          </a:p>
          <a:p>
            <a:pPr>
              <a:defRPr/>
            </a:pPr>
            <a:r>
              <a:rPr sz="2000" b="1"/>
              <a:t>GOOD AT</a:t>
            </a:r>
            <a:endParaRPr/>
          </a:p>
          <a:p>
            <a:pPr lvl="1">
              <a:defRPr/>
            </a:pPr>
            <a:r>
              <a:rPr sz="1700" b="0"/>
              <a:t>Needs no training data and runs at full photo size, so details stay sharp.</a:t>
            </a:r>
            <a:endParaRPr/>
          </a:p>
          <a:p>
            <a:pPr>
              <a:defRPr/>
            </a:pPr>
            <a:r>
              <a:rPr sz="2000" b="1"/>
              <a:t>WEAK AT</a:t>
            </a:r>
            <a:endParaRPr/>
          </a:p>
          <a:p>
            <a:pPr lvl="1">
              <a:defRPr/>
            </a:pPr>
            <a:r>
              <a:rPr sz="1700" b="0"/>
              <a:t>One fixed recipe for every haze level (light / medium / heavy), so it leaves a grey veil in heavy fog.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2669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Method 2: our learning fix (HDEN + CORUN)</a:t>
            </a:r>
            <a:endParaRPr lang="en-IN"/>
          </a:p>
        </p:txBody>
      </p:sp>
      <p:sp>
        <p:nvSpPr>
          <p:cNvPr id="1384176640" name="Content Placeholder 2"/>
          <p:cNvSpPr>
            <a:spLocks noGrp="1"/>
          </p:cNvSpPr>
          <p:nvPr>
            <p:ph idx="1"/>
          </p:nvPr>
        </p:nvSpPr>
        <p:spPr bwMode="auto">
          <a:xfrm>
            <a:ext cx="10515600" cy="3108960"/>
          </a:xfrm>
        </p:spPr>
        <p:txBody>
          <a:bodyPr/>
          <a:lstStyle/>
          <a:p>
            <a:pPr>
              <a:defRPr/>
            </a:pPr>
            <a:r>
              <a:rPr sz="2000" b="1"/>
              <a:t>HOW IT WORKS, step by step</a:t>
            </a:r>
            <a:endParaRPr/>
          </a:p>
          <a:p>
            <a:pPr lvl="1">
              <a:defRPr/>
            </a:pPr>
            <a:r>
              <a:rPr sz="1700" b="0"/>
              <a:t>A trained judge (HDEN) sorts each photo: light, medium, or heavy fog. Right 94% of the time in training.</a:t>
            </a:r>
            <a:endParaRPr/>
          </a:p>
          <a:p>
            <a:pPr lvl="1">
              <a:defRPr/>
            </a:pPr>
            <a:r>
              <a:rPr sz="1700" b="0"/>
              <a:t>Each photo goes to its cleaner: CORUN-Light (2 steps), Medium (4), or Complex (6 + attention on the foggiest patches).</a:t>
            </a:r>
            <a:endParaRPr/>
          </a:p>
          <a:p>
            <a:pPr lvl="1">
              <a:defRPr/>
            </a:pPr>
            <a:r>
              <a:rPr sz="1700" b="0"/>
              <a:t>A 3-part report card grades each result: physics, natural look, and leftover fog.</a:t>
            </a:r>
            <a:endParaRPr/>
          </a:p>
          <a:p>
            <a:pPr lvl="1">
              <a:defRPr/>
            </a:pPr>
            <a:r>
              <a:rPr sz="1700" b="0"/>
              <a:t>Data plan: full Foggy Cityscapes + clear twins (5,000 streets x 3 fog); 1,297 RTTS photos for testing.</a:t>
            </a:r>
            <a:endParaRPr/>
          </a:p>
          <a:p>
            <a:pPr>
              <a:defRPr/>
            </a:pPr>
            <a:r>
              <a:rPr sz="2000" b="1"/>
              <a:t>Reality check before GPU time</a:t>
            </a:r>
            <a:endParaRPr/>
          </a:p>
          <a:p>
            <a:pPr lvl="1">
              <a:defRPr/>
            </a:pPr>
            <a:r>
              <a:rPr sz="1700" b="0"/>
              <a:t>The judge calls 98.1% of real fog 'light', so our cutoffs send 84% to the small cleaner. Both need fixing.</a:t>
            </a:r>
            <a:endParaRPr/>
          </a:p>
        </p:txBody>
      </p:sp>
      <p:pic>
        <p:nvPicPr>
          <p:cNvPr id="1228334403" name="Picture 3" descr="img_calibratio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47244" y="5257800"/>
            <a:ext cx="2697480" cy="1143000"/>
          </a:xfrm>
          <a:prstGeom prst="rect">
            <a:avLst/>
          </a:prstGeom>
        </p:spPr>
      </p:pic>
      <p:sp>
        <p:nvSpPr>
          <p:cNvPr id="275736564" name="TextBox 4"/>
          <p:cNvSpPr txBox="1"/>
          <p:nvPr/>
        </p:nvSpPr>
        <p:spPr bwMode="auto">
          <a:xfrm>
            <a:off x="1463040" y="6419088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i="1"/>
              <a:t>Real fog disagrees with our lab cutoffs, as measured on RTTS photos (CC BY 4.0).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017937" name="Title 1"/>
          <p:cNvSpPr>
            <a:spLocks noGrp="1"/>
          </p:cNvSpPr>
          <p:nvPr>
            <p:ph type="title"/>
          </p:nvPr>
        </p:nvSpPr>
        <p:spPr bwMode="auto">
          <a:xfrm>
            <a:off x="838199" y="24946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Head to head: foggy vs textbook vs ours</a:t>
            </a:r>
            <a:endParaRPr/>
          </a:p>
        </p:txBody>
      </p:sp>
      <p:sp>
        <p:nvSpPr>
          <p:cNvPr id="753761340" name="TextBox 2"/>
          <p:cNvSpPr txBox="1"/>
          <p:nvPr/>
        </p:nvSpPr>
        <p:spPr bwMode="auto"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/>
              <a:t>Same two photos, three views each: the foggy photo, the textbook result (DCP), and our fix.</a:t>
            </a:r>
            <a:endParaRPr/>
          </a:p>
        </p:txBody>
      </p:sp>
      <p:pic>
        <p:nvPicPr>
          <p:cNvPr id="724843468" name="Picture 3" descr="img_bridge_compar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11909" y="1600200"/>
            <a:ext cx="6768150" cy="2194560"/>
          </a:xfrm>
          <a:prstGeom prst="rect">
            <a:avLst/>
          </a:prstGeom>
        </p:spPr>
      </p:pic>
      <p:sp>
        <p:nvSpPr>
          <p:cNvPr id="1008832828" name="TextBox 4"/>
          <p:cNvSpPr txBox="1"/>
          <p:nvPr/>
        </p:nvSpPr>
        <p:spPr bwMode="auto">
          <a:xfrm>
            <a:off x="1463040" y="384048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i="1"/>
              <a:t>Bridge in heavy fog (RTTS): foggy → textbook (DCP) → ours.</a:t>
            </a:r>
            <a:endParaRPr/>
          </a:p>
        </p:txBody>
      </p:sp>
      <p:pic>
        <p:nvPicPr>
          <p:cNvPr id="905481216" name="Picture 5" descr="img_stopsign_compar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162492" y="4251960"/>
            <a:ext cx="3866984" cy="1828800"/>
          </a:xfrm>
          <a:prstGeom prst="rect">
            <a:avLst/>
          </a:prstGeom>
        </p:spPr>
      </p:pic>
      <p:sp>
        <p:nvSpPr>
          <p:cNvPr id="108090420" name="TextBox 6"/>
          <p:cNvSpPr txBox="1"/>
          <p:nvPr/>
        </p:nvSpPr>
        <p:spPr bwMode="auto">
          <a:xfrm>
            <a:off x="1463040" y="612648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i="1"/>
              <a:t>Stop-sign street (COCO, heavy fog): foggy → textbook (DCP) → ours.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6320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Novelty, other uses, and final result</a:t>
            </a:r>
            <a:endParaRPr lang="en-IN"/>
          </a:p>
        </p:txBody>
      </p:sp>
      <p:sp>
        <p:nvSpPr>
          <p:cNvPr id="389033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 b="1"/>
              <a:t>OUR NOVELTY (beyond the paper)</a:t>
            </a:r>
            <a:endParaRPr/>
          </a:p>
          <a:p>
            <a:pPr lvl="1">
              <a:defRPr/>
            </a:pPr>
            <a:r>
              <a:rPr sz="1700" b="0"/>
              <a:t>Hybrid finish: run both cleaners and keep the sharper photo. DCP keeps full-size detail, CORUN clears fog better — the pick takes the best of both.</a:t>
            </a:r>
            <a:endParaRPr/>
          </a:p>
          <a:p>
            <a:pPr lvl="1">
              <a:defRPr/>
            </a:pPr>
            <a:r>
              <a:rPr sz="1700" b="0"/>
              <a:t>Real-world routing: reset the judge cutoffs on real RTTS fog, so heavy fog actually reaches the big cleaner.</a:t>
            </a:r>
            <a:endParaRPr/>
          </a:p>
          <a:p>
            <a:pPr>
              <a:defRPr/>
            </a:pPr>
            <a:r>
              <a:rPr sz="2000" b="1"/>
              <a:t>OTHER USES (same physics)</a:t>
            </a:r>
            <a:endParaRPr/>
          </a:p>
          <a:p>
            <a:pPr lvl="1">
              <a:defRPr/>
            </a:pPr>
            <a:r>
              <a:rPr sz="1700" b="0"/>
              <a:t>Phone one-tap cleanup, drones and security cameras in bad weather, smoke or shallow-water footage.</a:t>
            </a:r>
            <a:r>
              <a:rPr sz="1700" b="0"/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7583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Team members' technical contribution</a:t>
            </a:r>
            <a:endParaRPr lang="en-IN"/>
          </a:p>
        </p:txBody>
      </p:sp>
      <p:sp>
        <p:nvSpPr>
          <p:cNvPr id="20741333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 b="0"/>
              <a:t>Each person handles one stage of the pipeline:</a:t>
            </a:r>
            <a:endParaRPr lang="en-IN"/>
          </a:p>
          <a:p>
            <a:pPr lvl="1">
              <a:defRPr/>
            </a:pPr>
            <a:r>
              <a:rPr sz="1900" b="0"/>
              <a:t>Vishal prepares the fog training data and trains the fog judge.</a:t>
            </a:r>
            <a:endParaRPr/>
          </a:p>
          <a:p>
            <a:pPr lvl="1">
              <a:defRPr/>
            </a:pPr>
            <a:r>
              <a:rPr sz="1900" b="0"/>
              <a:t>Sathwik builds the three cleaners and runs the training.</a:t>
            </a:r>
            <a:endParaRPr/>
          </a:p>
          <a:p>
            <a:pPr lvl="1">
              <a:defRPr/>
            </a:pPr>
            <a:r>
              <a:rPr sz="1900" b="0"/>
              <a:t>Chetan runs object finding and scores the final results.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Amritha P.P</dc:creator>
  <cp:lastModifiedBy/>
  <cp:revision>10</cp:revision>
  <dcterms:created xsi:type="dcterms:W3CDTF">2026-09-13T02:39:17Z</dcterms:created>
  <dcterms:modified xsi:type="dcterms:W3CDTF">2026-09-14T17:04:06Z</dcterms:modified>
</cp:coreProperties>
</file>