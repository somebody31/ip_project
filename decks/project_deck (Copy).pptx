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57" d="100"/>
          <a:sy n="57" d="100"/>
        </p:scale>
        <p:origin x="924" y="3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E83D45-5DBA-2184-7ED7-68F76815F8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F41BCE-7A9B-390E-B680-BFE487EEDE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B67AB8-1FFA-3F90-64B8-3015258A5A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CDC410-F784-41AC-430D-9F5E638F17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732874-8911-E8D3-A085-5F9E8CA407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B09059-08B2-0DA9-37CE-6FBE84CE61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8E6AB7-2A8B-70DC-1582-EB8F238369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079A65-7D95-9E8F-DD49-B48D0DD06C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96040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4668462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4207911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20967786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476976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4430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6672577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2568054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21073069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918511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5094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9075373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04712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9073356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930307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55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4691784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0470806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348450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17625658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568750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39254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9180406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818824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90906516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673827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95332059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153441818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206577678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5789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6276878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82284098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7471230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20006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69132853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08210377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24479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5944870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57717142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109714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15686186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23765572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74912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741244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IN"/>
          </a:p>
        </p:txBody>
      </p:sp>
      <p:sp>
        <p:nvSpPr>
          <p:cNvPr id="103073062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777361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7831495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792557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4623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59558328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1775550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21403199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9322665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27809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0008516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99399705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16066237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0220727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32402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085539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85309151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DFB769C-86EB-4FFA-A25F-830189B85286}" type="datetimeFigureOut">
              <a:rPr lang="en-IN"/>
              <a:t>13-09-2026</a:t>
            </a:fld>
            <a:endParaRPr lang="en-IN"/>
          </a:p>
        </p:txBody>
      </p:sp>
      <p:sp>
        <p:nvSpPr>
          <p:cNvPr id="127597804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20778013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B33A0FD-BF9C-42A6-B274-D7D74D8E6D3B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228050" name="Title 1"/>
          <p:cNvSpPr>
            <a:spLocks noGrp="1"/>
          </p:cNvSpPr>
          <p:nvPr>
            <p:ph type="ctrTitle"/>
          </p:nvPr>
        </p:nvSpPr>
        <p:spPr bwMode="auto">
          <a:xfrm>
            <a:off x="1455964" y="-393861"/>
            <a:ext cx="9144000" cy="2387599"/>
          </a:xfrm>
        </p:spPr>
        <p:txBody>
          <a:bodyPr/>
          <a:lstStyle/>
          <a:p>
            <a:pPr>
              <a:defRPr/>
            </a:pPr>
            <a:r>
              <a:rPr sz="4400"/>
              <a:t>Seeing Through Fog</a:t>
            </a:r>
            <a:endParaRPr lang="en-IN"/>
          </a:p>
        </p:txBody>
      </p:sp>
      <p:sp>
        <p:nvSpPr>
          <p:cNvPr id="15071009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2998539"/>
            <a:ext cx="9144000" cy="336290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1800"/>
              <a:t>Clearer photos, so cars and people can still be found in fog</a:t>
            </a:r>
            <a:endParaRPr sz="1800"/>
          </a:p>
          <a:p>
            <a:pPr>
              <a:defRPr/>
            </a:pPr>
            <a:r>
              <a:rPr lang="en-US" sz="1800"/>
              <a:t>Vishal-24XV1M6606</a:t>
            </a:r>
            <a:endParaRPr lang="en-US" sz="1800"/>
          </a:p>
          <a:p>
            <a:pPr>
              <a:defRPr/>
            </a:pPr>
            <a:r>
              <a:rPr lang="en-US" sz="1800"/>
              <a:t>Chetan-24XV1M6608</a:t>
            </a:r>
            <a:endParaRPr lang="en-US" sz="1800"/>
          </a:p>
          <a:p>
            <a:pPr>
              <a:defRPr/>
            </a:pPr>
            <a:r>
              <a:rPr lang="en-US" sz="1800"/>
              <a:t>Sathwik-24XV1M6645</a:t>
            </a:r>
            <a:endParaRPr lang="en-IN"/>
          </a:p>
          <a:p>
            <a:pPr>
              <a:defRPr/>
            </a:pPr>
            <a:r>
              <a:rPr sz="1800"/>
              <a:t>Based on: ADAM-Dehaze (arXiv:2506.15837) - our rebuild + improvement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5579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Motivation</a:t>
            </a:r>
            <a:endParaRPr lang="en-IN"/>
          </a:p>
        </p:txBody>
      </p:sp>
      <p:sp>
        <p:nvSpPr>
          <p:cNvPr id="170631822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 b="0"/>
              <a:t>Fog hides objects in photos. Self-driving cars, traffic cameras and security systems all depend on photos.</a:t>
            </a:r>
            <a:endParaRPr/>
          </a:p>
          <a:p>
            <a:pPr>
              <a:defRPr/>
            </a:pPr>
            <a:r>
              <a:rPr sz="2000" b="0"/>
              <a:t>Their object detectors were trained on clear days, so in fog they miss cars and people, or see things that aren't there.</a:t>
            </a:r>
            <a:endParaRPr/>
          </a:p>
          <a:p>
            <a:pPr>
              <a:defRPr/>
            </a:pPr>
            <a:r>
              <a:rPr sz="2000" b="0"/>
              <a:t>Removing the fog is not the real goal - keeping the detector working is. In our test photo of a bus in heavy fog, it found 3 objects before dehazing and 7 after.</a:t>
            </a:r>
            <a:endParaRPr/>
          </a:p>
          <a:p>
            <a:pPr>
              <a:defRPr/>
            </a:pPr>
            <a:r>
              <a:rPr sz="2000" b="1"/>
              <a:t>New application we will target</a:t>
            </a:r>
            <a:endParaRPr/>
          </a:p>
          <a:p>
            <a:pPr lvl="1">
              <a:defRPr/>
            </a:pPr>
            <a:r>
              <a:rPr sz="1700" b="0"/>
              <a:t>Phone camera cleanup: one tap could clear the fog from a photo.</a:t>
            </a:r>
            <a:endParaRPr/>
          </a:p>
          <a:p>
            <a:pPr lvl="1">
              <a:defRPr/>
            </a:pPr>
            <a:r>
              <a:rPr sz="1700" b="0"/>
              <a:t>Drones and security cameras could keep tracking in bad weather.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6126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Objective</a:t>
            </a:r>
            <a:endParaRPr lang="en-IN"/>
          </a:p>
        </p:txBody>
      </p:sp>
      <p:sp>
        <p:nvSpPr>
          <p:cNvPr id="165232462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 b="1"/>
              <a:t>AIM</a:t>
            </a:r>
            <a:endParaRPr lang="en-IN"/>
          </a:p>
          <a:p>
            <a:pPr>
              <a:defRPr/>
            </a:pPr>
            <a:r>
              <a:rPr sz="2000" b="0"/>
              <a:t>Rebuild the paper's fog-removal system, then improve it.</a:t>
            </a:r>
            <a:endParaRPr/>
          </a:p>
          <a:p>
            <a:pPr>
              <a:defRPr/>
            </a:pPr>
            <a:r>
              <a:rPr sz="2000" b="1"/>
              <a:t>WHAT WE WILL DO</a:t>
            </a:r>
            <a:endParaRPr/>
          </a:p>
          <a:p>
            <a:pPr lvl="1">
              <a:defRPr/>
            </a:pPr>
            <a:r>
              <a:rPr sz="1700" b="0"/>
              <a:t>A fog judge scores how foggy each photo is, sends it to the matching cleaner, then auto-checks the result.</a:t>
            </a:r>
            <a:endParaRPr/>
          </a:p>
          <a:p>
            <a:pPr lvl="1">
              <a:defRPr/>
            </a:pPr>
            <a:r>
              <a:rPr sz="1700" b="0"/>
              <a:t>Try two cleaners side by side - the textbook recipe and the learner - and score both the same way.</a:t>
            </a:r>
            <a:endParaRPr/>
          </a:p>
          <a:p>
            <a:pPr>
              <a:defRPr/>
            </a:pPr>
            <a:r>
              <a:rPr sz="2000" b="1"/>
              <a:t>OUTCOME</a:t>
            </a:r>
            <a:endParaRPr/>
          </a:p>
          <a:p>
            <a:pPr lvl="1">
              <a:defRPr/>
            </a:pPr>
            <a:r>
              <a:rPr sz="1700" b="0"/>
              <a:t>We will produce cleaner photos and score them against the original clean photo.</a:t>
            </a:r>
            <a:endParaRPr/>
          </a:p>
          <a:p>
            <a:pPr lvl="1">
              <a:defRPr/>
            </a:pPr>
            <a:r>
              <a:rPr sz="1700" b="0"/>
              <a:t>We want fewer missed cars and people, plus a scoreboard that compares the fixed recipe against our learner.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2415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Method 1: the textbook fix (DCP)</a:t>
            </a:r>
            <a:endParaRPr lang="en-IN"/>
          </a:p>
        </p:txBody>
      </p:sp>
      <p:sp>
        <p:nvSpPr>
          <p:cNvPr id="863610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 b="1"/>
              <a:t>HOW IT WORKS — Dark Channel Prior, no learning</a:t>
            </a:r>
            <a:endParaRPr/>
          </a:p>
          <a:p>
            <a:pPr lvl="1">
              <a:defRPr/>
            </a:pPr>
            <a:r>
              <a:rPr sz="1700" b="0"/>
              <a:t>Step 1 finds the fog colour from the foggiest pixels.</a:t>
            </a:r>
            <a:endParaRPr/>
          </a:p>
          <a:p>
            <a:pPr lvl="1">
              <a:defRPr/>
            </a:pPr>
            <a:r>
              <a:rPr sz="1700" b="0"/>
              <a:t>Step 2 guesses how much fog sits on each pixel (dark channel).</a:t>
            </a:r>
            <a:endParaRPr/>
          </a:p>
          <a:p>
            <a:pPr lvl="1">
              <a:defRPr/>
            </a:pPr>
            <a:r>
              <a:rPr sz="1700" b="0"/>
              <a:t>Step 3 subtracts the fog to recover the clear photo.</a:t>
            </a:r>
            <a:endParaRPr/>
          </a:p>
          <a:p>
            <a:pPr>
              <a:defRPr/>
            </a:pPr>
            <a:r>
              <a:rPr sz="2000" b="1"/>
              <a:t>GOOD AT</a:t>
            </a:r>
            <a:endParaRPr/>
          </a:p>
          <a:p>
            <a:pPr lvl="1">
              <a:defRPr/>
            </a:pPr>
            <a:r>
              <a:rPr sz="1700" b="0"/>
              <a:t>Needs no training data and runs at full photo size, so details stay sharp.</a:t>
            </a:r>
            <a:endParaRPr/>
          </a:p>
          <a:p>
            <a:pPr>
              <a:defRPr/>
            </a:pPr>
            <a:r>
              <a:rPr sz="2000" b="1"/>
              <a:t>WEAK AT</a:t>
            </a:r>
            <a:endParaRPr/>
          </a:p>
          <a:p>
            <a:pPr lvl="1">
              <a:defRPr/>
            </a:pPr>
            <a:r>
              <a:rPr sz="1700" b="0"/>
              <a:t>One fixed recipe for every haze level (light / medium / heavy), so it leaves a grey veil in heavy fog.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9907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Method 2: our learning fix (HDEN + CORUN)</a:t>
            </a:r>
            <a:endParaRPr lang="en-IN"/>
          </a:p>
        </p:txBody>
      </p:sp>
      <p:sp>
        <p:nvSpPr>
          <p:cNvPr id="667500716" name="Content Placeholder 2"/>
          <p:cNvSpPr>
            <a:spLocks noGrp="1"/>
          </p:cNvSpPr>
          <p:nvPr>
            <p:ph idx="1"/>
          </p:nvPr>
        </p:nvSpPr>
        <p:spPr bwMode="auto">
          <a:xfrm>
            <a:ext cx="10515600" cy="3108960"/>
          </a:xfrm>
        </p:spPr>
        <p:txBody>
          <a:bodyPr/>
          <a:lstStyle/>
          <a:p>
            <a:pPr>
              <a:defRPr/>
            </a:pPr>
            <a:r>
              <a:rPr sz="2000" b="1"/>
              <a:t>HOW IT WORKS, step by step</a:t>
            </a:r>
            <a:endParaRPr/>
          </a:p>
          <a:p>
            <a:pPr lvl="1">
              <a:defRPr/>
            </a:pPr>
            <a:r>
              <a:rPr sz="1700" b="0"/>
              <a:t>A trained judge (HDEN) sorts each photo: light, medium, or heavy fog. Right 94% of the time in training.</a:t>
            </a:r>
            <a:endParaRPr/>
          </a:p>
          <a:p>
            <a:pPr lvl="1">
              <a:defRPr/>
            </a:pPr>
            <a:r>
              <a:rPr sz="1700" b="0"/>
              <a:t>Each photo goes to its cleaner: CORUN-Light (2 steps), Medium (4), or Complex (6 + attention on the foggiest patches).</a:t>
            </a:r>
            <a:endParaRPr/>
          </a:p>
          <a:p>
            <a:pPr lvl="1">
              <a:defRPr/>
            </a:pPr>
            <a:r>
              <a:rPr sz="1700" b="0"/>
              <a:t>A 3-part report card grades each result: physics, natural look, and leftover fog.</a:t>
            </a:r>
            <a:endParaRPr/>
          </a:p>
          <a:p>
            <a:pPr lvl="1">
              <a:defRPr/>
            </a:pPr>
            <a:r>
              <a:rPr sz="1700" b="0"/>
              <a:t>Data ready: 5,000 COCO photos + 1,297 real RTTS photos.</a:t>
            </a:r>
            <a:endParaRPr/>
          </a:p>
          <a:p>
            <a:pPr>
              <a:defRPr/>
            </a:pPr>
            <a:r>
              <a:rPr sz="2000" b="1"/>
              <a:t>Reality check before GPU time</a:t>
            </a:r>
            <a:endParaRPr/>
          </a:p>
          <a:p>
            <a:pPr lvl="1">
              <a:defRPr/>
            </a:pPr>
            <a:r>
              <a:rPr sz="1700" b="0"/>
              <a:t>The judge calls 98.1% of real fog 'light', so our cutoffs send 84% to the small cleaner. Both need fixing.</a:t>
            </a:r>
            <a:endParaRPr/>
          </a:p>
        </p:txBody>
      </p:sp>
      <p:pic>
        <p:nvPicPr>
          <p:cNvPr id="2053763197" name="Picture 3" descr="img_calibratio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477496" y="4983480"/>
            <a:ext cx="3236976" cy="1371600"/>
          </a:xfrm>
          <a:prstGeom prst="rect">
            <a:avLst/>
          </a:prstGeom>
        </p:spPr>
      </p:pic>
      <p:sp>
        <p:nvSpPr>
          <p:cNvPr id="1174706705" name="TextBox 4"/>
          <p:cNvSpPr txBox="1"/>
          <p:nvPr/>
        </p:nvSpPr>
        <p:spPr bwMode="auto">
          <a:xfrm>
            <a:off x="1463040" y="6419088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i="1"/>
              <a:t>Real fog disagrees with our lab cutoffs, as measured on RTTS photos (CC BY 4.0).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1284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Head to head: foggy vs textbook vs ours</a:t>
            </a:r>
            <a:endParaRPr/>
          </a:p>
        </p:txBody>
      </p:sp>
      <p:sp>
        <p:nvSpPr>
          <p:cNvPr id="1868387908" name="TextBox 2"/>
          <p:cNvSpPr txBox="1"/>
          <p:nvPr/>
        </p:nvSpPr>
        <p:spPr bwMode="auto">
          <a:xfrm>
            <a:off x="548640" y="10972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/>
              <a:t>Same two photos, three views each: the foggy photo, the textbook result (DCP), and our fix.</a:t>
            </a:r>
            <a:endParaRPr/>
          </a:p>
        </p:txBody>
      </p:sp>
      <p:pic>
        <p:nvPicPr>
          <p:cNvPr id="520397622" name="Picture 3" descr="img_bridge_compar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711909" y="1600200"/>
            <a:ext cx="6768150" cy="2194560"/>
          </a:xfrm>
          <a:prstGeom prst="rect">
            <a:avLst/>
          </a:prstGeom>
        </p:spPr>
      </p:pic>
      <p:sp>
        <p:nvSpPr>
          <p:cNvPr id="1870282319" name="TextBox 4"/>
          <p:cNvSpPr txBox="1"/>
          <p:nvPr/>
        </p:nvSpPr>
        <p:spPr bwMode="auto">
          <a:xfrm>
            <a:off x="1463040" y="384048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i="1"/>
              <a:t>Bridge in heavy fog (RTTS): foggy → textbook (DCP) → ours.</a:t>
            </a:r>
            <a:endParaRPr/>
          </a:p>
        </p:txBody>
      </p:sp>
      <p:pic>
        <p:nvPicPr>
          <p:cNvPr id="1690074488" name="Picture 5" descr="img_stopsign_compar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162492" y="4251960"/>
            <a:ext cx="3866984" cy="1828800"/>
          </a:xfrm>
          <a:prstGeom prst="rect">
            <a:avLst/>
          </a:prstGeom>
        </p:spPr>
      </p:pic>
      <p:sp>
        <p:nvSpPr>
          <p:cNvPr id="1696589963" name="TextBox 6"/>
          <p:cNvSpPr txBox="1"/>
          <p:nvPr/>
        </p:nvSpPr>
        <p:spPr bwMode="auto">
          <a:xfrm>
            <a:off x="1463040" y="612648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i="1"/>
              <a:t>Stop-sign street (COCO, heavy fog): foggy → textbook (DCP) → ours.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0691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Novelty, other uses, and final result</a:t>
            </a:r>
            <a:endParaRPr lang="en-IN"/>
          </a:p>
        </p:txBody>
      </p:sp>
      <p:sp>
        <p:nvSpPr>
          <p:cNvPr id="32243406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 b="1"/>
              <a:t>OUR NOVELTY (beyond the paper)</a:t>
            </a:r>
            <a:endParaRPr/>
          </a:p>
          <a:p>
            <a:pPr lvl="1">
              <a:defRPr/>
            </a:pPr>
            <a:r>
              <a:rPr sz="1700" b="0"/>
              <a:t>Hybrid finish: run both cleaners and keep the sharper photo. DCP keeps full-size detail, CORUN clears fog better — the pick takes the best of both.</a:t>
            </a:r>
            <a:endParaRPr/>
          </a:p>
          <a:p>
            <a:pPr lvl="1">
              <a:defRPr/>
            </a:pPr>
            <a:r>
              <a:rPr sz="1700" b="0"/>
              <a:t>Real-world routing: reset the judge cutoffs on real RTTS fog, so heavy fog actually reaches the big cleaner.</a:t>
            </a:r>
            <a:endParaRPr/>
          </a:p>
          <a:p>
            <a:pPr>
              <a:defRPr/>
            </a:pPr>
            <a:r>
              <a:rPr sz="2000" b="1"/>
              <a:t>OTHER USES (same physics)</a:t>
            </a:r>
            <a:endParaRPr/>
          </a:p>
          <a:p>
            <a:pPr lvl="1">
              <a:defRPr/>
            </a:pPr>
            <a:r>
              <a:rPr sz="1700" b="0"/>
              <a:t>Phone one-tap cleanup, drones and security cameras in bad weather, smoke or shallow-water footage.</a:t>
            </a:r>
            <a:endParaRPr/>
          </a:p>
          <a:p>
            <a:pPr>
              <a:defRPr/>
            </a:pPr>
            <a:r>
              <a:rPr sz="2000" b="1"/>
              <a:t>FINAL TABLE BY NOV FIRST WEEK</a:t>
            </a:r>
            <a:endParaRPr/>
          </a:p>
          <a:p>
            <a:pPr lvl="1">
              <a:defRPr/>
            </a:pPr>
            <a:r>
              <a:rPr sz="1700" b="0"/>
              <a:t>Textbook (DCP) vs learner (HDEN + CORUN) on three columns: clear-look (PSNR/SSIM), fog left (dark-channel mean), cars found (YOLO score on RTTS).</a:t>
            </a:r>
            <a:endParaRPr/>
          </a:p>
          <a:p>
            <a:pPr lvl="1">
              <a:defRPr/>
            </a:pPr>
            <a:r>
              <a:rPr sz="1700" b="0"/>
              <a:t>Today: textbook leads on cars found (0.242 vs 0.115); learner leads on looks. Win = learner beats textbook on cars found without losing detail.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68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Team members' technical contribution</a:t>
            </a:r>
            <a:endParaRPr lang="en-IN"/>
          </a:p>
        </p:txBody>
      </p:sp>
      <p:sp>
        <p:nvSpPr>
          <p:cNvPr id="95597723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000" b="0"/>
              <a:t>Each person handles one stage of the pipeline:</a:t>
            </a:r>
            <a:endParaRPr lang="en-IN"/>
          </a:p>
          <a:p>
            <a:pPr lvl="1">
              <a:defRPr/>
            </a:pPr>
            <a:r>
              <a:rPr sz="1900" b="0"/>
              <a:t>Vishal builds the distance maps and trains the fog judge.</a:t>
            </a:r>
            <a:endParaRPr sz="1900"/>
          </a:p>
          <a:p>
            <a:pPr lvl="1">
              <a:defRPr/>
            </a:pPr>
            <a:r>
              <a:rPr sz="1900" b="0"/>
              <a:t>Sathwik builds the three cleaners and runs the training.</a:t>
            </a:r>
            <a:endParaRPr sz="1900"/>
          </a:p>
          <a:p>
            <a:pPr lvl="1">
              <a:defRPr/>
            </a:pPr>
            <a:r>
              <a:rPr sz="1900" b="0"/>
              <a:t>Chetan runs object finding and scores the final results.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Amritha P.P</dc:creator>
  <cp:lastModifiedBy/>
  <cp:revision>10</cp:revision>
  <dcterms:created xsi:type="dcterms:W3CDTF">2026-09-13T02:39:17Z</dcterms:created>
  <dcterms:modified xsi:type="dcterms:W3CDTF">2026-09-14T15:56:13Z</dcterms:modified>
</cp:coreProperties>
</file>