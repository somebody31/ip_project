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IMAGE DEHAZING FOR OBJECT DETECTION</a:t>
            </a:r>
          </a:p>
          <a:p>
            <a:pPr>
              <a:spcBef>
                <a:spcPts val="800"/>
              </a:spcBef>
              <a:defRPr sz="3200" b="1">
                <a:solidFill>
                  <a:srgbClr val="141414"/>
                </a:solidFill>
              </a:defRPr>
            </a:pPr>
            <a:r>
              <a:t>Comparative Analysis on Real-World Fog</a:t>
            </a:r>
          </a:p>
          <a:p>
            <a:pPr>
              <a:spcBef>
                <a:spcPts val="1600"/>
              </a:spcBef>
              <a:defRPr sz="1600">
                <a:solidFill>
                  <a:srgbClr val="646464"/>
                </a:solidFill>
              </a:defRPr>
            </a:pPr>
            <a:r>
              <a:t>Raw Hazy Baseline  |  Reference Paper  |  Classical DCP  |  Our Method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ARCHITECTURE &amp; PRINCIPLES</a:t>
            </a:r>
          </a:p>
          <a:p>
            <a:pPr>
              <a:defRPr sz="2400" b="1">
                <a:solidFill>
                  <a:srgbClr val="141414"/>
                </a:solidFill>
              </a:defRPr>
            </a:pPr>
            <a:r>
              <a:t>Method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5146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1300" b="1">
                <a:solidFill>
                  <a:srgbClr val="141414"/>
                </a:solidFill>
              </a:defRPr>
            </a:pPr>
            <a:r>
              <a:t>Raw Hazy Baseline</a:t>
            </a:r>
          </a:p>
          <a:p>
            <a:pPr>
              <a:spcBef>
                <a:spcPts val="1000"/>
              </a:spcBef>
              <a:defRPr sz="1050">
                <a:solidFill>
                  <a:srgbClr val="646464"/>
                </a:solidFill>
              </a:defRPr>
            </a:pPr>
            <a:r>
              <a:t>• Input: Original degraded camera capture.</a:t>
            </a:r>
            <a:br/>
            <a:br/>
            <a:r>
              <a:t>• Mechanism: Direct detection without preprocessing.</a:t>
            </a:r>
            <a:br/>
            <a:br/>
            <a:r>
              <a:t>• Limitation: Severe contrast loss, veiled object contours, and high miss rate on distant objects.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65576" y="1645920"/>
            <a:ext cx="25146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1300" b="1">
                <a:solidFill>
                  <a:srgbClr val="141414"/>
                </a:solidFill>
              </a:defRPr>
            </a:pPr>
            <a:r>
              <a:t>Reference Paper</a:t>
            </a:r>
          </a:p>
          <a:p>
            <a:pPr>
              <a:spcBef>
                <a:spcPts val="1000"/>
              </a:spcBef>
              <a:defRPr sz="1050">
                <a:solidFill>
                  <a:srgbClr val="646464"/>
                </a:solidFill>
              </a:defRPr>
            </a:pPr>
            <a:r>
              <a:t>• Input: Hazy image classified into light, medium, or heavy fog.</a:t>
            </a:r>
            <a:br/>
            <a:br/>
            <a:r>
              <a:t>• Mechanism: Image routed to 1 of 3 separate U-Net branches.</a:t>
            </a:r>
            <a:br/>
            <a:br/>
            <a:r>
              <a:t>• Limitation: Uniform fog assumption across depth breaks on perspective scenes; partitions training data into 3 smaller subsets.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9632" y="1645920"/>
            <a:ext cx="25146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1300" b="1">
                <a:solidFill>
                  <a:srgbClr val="141414"/>
                </a:solidFill>
              </a:defRPr>
            </a:pPr>
            <a:r>
              <a:t>Classical DCP (He et al., 2009)</a:t>
            </a:r>
          </a:p>
          <a:p>
            <a:pPr>
              <a:spcBef>
                <a:spcPts val="1000"/>
              </a:spcBef>
              <a:defRPr sz="1050">
                <a:solidFill>
                  <a:srgbClr val="646464"/>
                </a:solidFill>
              </a:defRPr>
            </a:pPr>
            <a:r>
              <a:t>• Input: Hazy image processed with Dark Channel Prior.</a:t>
            </a:r>
            <a:br/>
            <a:br/>
            <a:r>
              <a:t>• Mechanism: Physical atmospheric scattering model with guided filter.</a:t>
            </a:r>
            <a:br/>
            <a:br/>
            <a:r>
              <a:t>• Limitation: Zero-shot heuristic produces halo artifacts around high-contrast edges and false color shifts in sky regions.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33688" y="1645920"/>
            <a:ext cx="25146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1300" b="1">
                <a:solidFill>
                  <a:srgbClr val="141414"/>
                </a:solidFill>
              </a:defRPr>
            </a:pPr>
            <a:r>
              <a:t>Our Method</a:t>
            </a:r>
          </a:p>
          <a:p>
            <a:pPr>
              <a:spcBef>
                <a:spcPts val="1000"/>
              </a:spcBef>
              <a:defRPr sz="1050">
                <a:solidFill>
                  <a:srgbClr val="646464"/>
                </a:solidFill>
              </a:defRPr>
            </a:pPr>
            <a:r>
              <a:t>• Input: Hazy image processed by a single unified network.</a:t>
            </a:r>
            <a:br/>
            <a:br/>
            <a:r>
              <a:t>• Mechanism: Continuous per-pixel spatial gating adapting across depth.</a:t>
            </a:r>
            <a:br/>
            <a:br/>
            <a:r>
              <a:t>• Innovation: Realistic atmospheric light randomization and task-aligned feature adaptation with frozen detector supervision.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DISTINGUISHABLE CHARACTERISTICS</a:t>
            </a:r>
          </a:p>
          <a:p>
            <a:pPr>
              <a:defRPr sz="2400" b="1">
                <a:solidFill>
                  <a:srgbClr val="141414"/>
                </a:solidFill>
              </a:defRPr>
            </a:pPr>
            <a:r>
              <a:t>Visual Results on Real Fog</a:t>
            </a:r>
          </a:p>
        </p:txBody>
      </p:sp>
      <p:pic>
        <p:nvPicPr>
          <p:cNvPr id="3" name="Picture 2" descr="method_comparis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1920240"/>
          </a:xfrm>
          <a:prstGeom prst="rect">
            <a:avLst/>
          </a:prstGeom>
        </p:spPr>
      </p:pic>
      <p:pic>
        <p:nvPicPr>
          <p:cNvPr id="4" name="Picture 3" descr="method_comparison_det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39"/>
            <a:ext cx="10728655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521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Top Row: Direct visual dehazing. Bottom Row: Downstream YOLOv8n object detection. (a) Raw hazy is pale and veiled; (b) Reference paper exhibits dark background halos; (c) DCP causes sky color banding; (d) Our method achieves clean, balanced contrast with the highest detection count (7 vs 4-5).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EVALUATION METRICS (RTTS VALID, 865 IMAGES, FROZEN YOLOV8N)</a:t>
            </a:r>
          </a:p>
          <a:p>
            <a:pPr>
              <a:defRPr sz="2400" b="1">
                <a:solidFill>
                  <a:srgbClr val="141414"/>
                </a:solidFill>
              </a:defRPr>
            </a:pPr>
            <a:r>
              <a:t>Quantitative Benchmark on Real Fog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280160"/>
                <a:gridCol w="1280160"/>
                <a:gridCol w="1280160"/>
                <a:gridCol w="1371600"/>
                <a:gridCol w="1463040"/>
                <a:gridCol w="146304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Raw Hazy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Classical DCP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Gain vs Raw Hazy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Gain vs Paper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AP@0.50 (Standard VOC)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0.4527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0.4415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0.4706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0.4891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+0.0364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+0.0476 (+4.8 pts)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AP@0.75 (Strict Boundary)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0.2593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0.2602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0.2825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0.2903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+0.0301 (+11.6%)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AP@0.95 (Ultra-Strict)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0.0163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0.0212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0.0209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0.0215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+0.0003 (+1.4%)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mAP@[0.50:0.95] (COCO 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0.2657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0.2625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0.2811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0.2924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+0.0299 (+11.4%)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Total Detections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83,105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100,073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99,945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98,097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+14,992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-1,976 (Cleaner)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8463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646464"/>
                </a:solidFill>
              </a:defRPr>
            </a:pPr>
            <a:r>
              <a:t>• True Task Utility: While the paper method degrades detection below untreated images (-0.0112 AP@0.50), our method provides true recovery (+0.0364 AP@0.50).</a:t>
            </a:r>
          </a:p>
          <a:p>
            <a:pPr>
              <a:spcBef>
                <a:spcPts val="400"/>
              </a:spcBef>
              <a:defRPr sz="1100">
                <a:solidFill>
                  <a:srgbClr val="646464"/>
                </a:solidFill>
              </a:defRPr>
            </a:pPr>
            <a:r>
              <a:t>• Winning Over Classical DCP: First neural dehazing method to beat classical Dark Channel Prior across all IoU thresholds (+0.0185 AP@0.50, +0.0113 mAP).</a:t>
            </a:r>
          </a:p>
          <a:p>
            <a:pPr>
              <a:spcBef>
                <a:spcPts val="400"/>
              </a:spcBef>
              <a:defRPr sz="1100">
                <a:solidFill>
                  <a:srgbClr val="646464"/>
                </a:solidFill>
              </a:defRPr>
            </a:pPr>
            <a:r>
              <a:t>• High Boundary Precision: Under strict localization criteria (AP@0.75), our method delivers an 11.6% relative gain over the reference paper with fewer false positives.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DEPLOYMENT &amp; EFFICIENCY</a:t>
            </a:r>
          </a:p>
          <a:p>
            <a:pPr>
              <a:defRPr sz="2400" b="1">
                <a:solidFill>
                  <a:srgbClr val="141414"/>
                </a:solidFill>
              </a:defRPr>
            </a:pPr>
            <a:r>
              <a:t>Model Complexity &amp; Footprint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51206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Deployment Metric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Advantage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Total Model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26.4 M (26,378,804)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7.8 M (7,766,084)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70.6% parameter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Active Models in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4 (1 Classifier + 3 Dehazers)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1 (Single Unified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3.4x lower VRAM 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240 ms /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230 ms /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Faster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Downstream Detector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Fine-tuned / Coupled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414"/>
                          </a:solidFill>
                          <a:latin typeface="Calibri"/>
                        </a:defRPr>
                      </a:pPr>
                      <a:r>
                        <a:t>100% Frozen 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t>Universal plug-and-play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48056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646464"/>
                </a:solidFill>
              </a:defRPr>
            </a:pPr>
            <a:r>
              <a:t>• Unified Backbone: Instead of maintaining 4 distinct neural networks in VRAM, our architecture relies on a single compact spatial backbone.</a:t>
            </a:r>
          </a:p>
          <a:p>
            <a:pPr>
              <a:spcBef>
                <a:spcPts val="600"/>
              </a:spcBef>
              <a:defRPr sz="1100">
                <a:solidFill>
                  <a:srgbClr val="646464"/>
                </a:solidFill>
              </a:defRPr>
            </a:pPr>
            <a:r>
              <a:t>• Plug-and-Play Perception: Because the downstream YOLO detector is completely frozen and unmodified, our dehazer acts as an impartial visual pre-processor compatible with any perception system.</a:t>
            </a:r>
          </a:p>
          <a:p>
            <a:pPr>
              <a:spcBef>
                <a:spcPts val="600"/>
              </a:spcBef>
              <a:defRPr sz="1100">
                <a:solidFill>
                  <a:srgbClr val="646464"/>
                </a:solidFill>
              </a:defRPr>
            </a:pPr>
            <a:r>
              <a:t>• Practical Real-Time Viability: Delivers superior restoration accuracy with reduced latency and 70% lower parameter weight.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