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/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  <p:sp>
        <p:nvSpPr>
          <p:cNvPr id="4" name="Rectangle 3"/>
          <p:cNvSpPr/>
          <p:nvPr/>
        </p:nvSpPr>
        <p:spPr>
          <a:xfrm>
            <a:off x="731520" y="2011680"/>
            <a:ext cx="109728" cy="2560320"/>
          </a:xfrm>
          <a:prstGeom prst="rect">
            <a:avLst/>
          </a:prstGeom>
          <a:solidFill>
            <a:srgbClr val="1F4E78"/>
          </a:solidFill>
          <a:ln>
            <a:solidFill>
              <a:srgbClr val="1F4E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828800"/>
            <a:ext cx="100584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F4E78"/>
                </a:solidFill>
                <a:latin typeface="Calibri"/>
              </a:defRPr>
            </a:pPr>
            <a:r>
              <a:t>IMAGE RESTORATION &amp; OBJECT DETECTION</a:t>
            </a:r>
          </a:p>
          <a:p>
            <a:pPr>
              <a:spcBef>
                <a:spcPts val="800"/>
              </a:spcBef>
              <a:defRPr sz="3600" b="1">
                <a:solidFill>
                  <a:srgbClr val="262626"/>
                </a:solidFill>
                <a:latin typeface="Calibri"/>
              </a:defRPr>
            </a:pPr>
            <a:r>
              <a:t>Real-World Image Dehazing for Object Detection</a:t>
            </a:r>
          </a:p>
          <a:p>
            <a:pPr>
              <a:spcBef>
                <a:spcPts val="1400"/>
              </a:spcBef>
              <a:defRPr sz="1600">
                <a:solidFill>
                  <a:srgbClr val="595959"/>
                </a:solidFill>
                <a:latin typeface="Calibri"/>
              </a:defRPr>
            </a:pPr>
            <a:r>
              <a:t>Comparative Benchmark: Baseline vs. Reference Paper vs. Classical DCP vs. Our Method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512064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>
                <a:solidFill>
                  <a:srgbClr val="595959"/>
                </a:solidFill>
                <a:latin typeface="Calibri"/>
              </a:defRPr>
            </a:pPr>
            <a:r>
              <a:t>Evaluation Protocol:</a:t>
            </a:r>
            <a:br/>
            <a:r>
              <a:t>• Image Reconstruction Fidelity: PSNR &amp; SSIM on paired Foggy Cityscapes (1,500 scenes @ 2048x1024)</a:t>
            </a:r>
            <a:br/>
            <a:r>
              <a:t>• Real-World Detection Utility: VOC AP@0.50, Strict AP@0.75, COCO mAP on held-out RTTS Valid (865 images)</a:t>
            </a:r>
            <a:br/>
            <a:r>
              <a:t>• Impartial Perception Setup: Off-the-shelf YOLOv8n detector with 100% frozen COCO weights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1F4E78"/>
                </a:solidFill>
                <a:latin typeface="Calibri"/>
              </a:defRPr>
            </a:pPr>
            <a:r>
              <a:t>SYSTEM ARCHITECTURES</a:t>
            </a:r>
          </a:p>
          <a:p>
            <a:pPr>
              <a:spcBef>
                <a:spcPts val="300"/>
              </a:spcBef>
              <a:defRPr sz="2400" b="1">
                <a:solidFill>
                  <a:srgbClr val="262626"/>
                </a:solidFill>
                <a:latin typeface="Calibri"/>
              </a:defRPr>
            </a:pPr>
            <a:r>
              <a:t>Method Overview: Core Architectures &amp; Principles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10728655" cy="18288"/>
          </a:xfrm>
          <a:prstGeom prst="rect">
            <a:avLst/>
          </a:prstGeom>
          <a:solidFill>
            <a:srgbClr val="D2D7DE"/>
          </a:solidFill>
          <a:ln>
            <a:solidFill>
              <a:srgbClr val="D2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400800"/>
            <a:ext cx="1072865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A0A0A0"/>
                </a:solidFill>
                <a:latin typeface="Calibri"/>
              </a:defRPr>
            </a:pPr>
            <a:r>
              <a:t>Real-World Dehazing Evaluation | Frozen COCO YOLOv8n | Foggy Cityscapes &amp; RTTS Benchmark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00200"/>
            <a:ext cx="2542032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2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600200"/>
            <a:ext cx="2542032" cy="731520"/>
          </a:xfrm>
          <a:prstGeom prst="rect">
            <a:avLst/>
          </a:prstGeom>
          <a:solidFill>
            <a:srgbClr val="F5F7FA"/>
          </a:solidFill>
          <a:ln>
            <a:solidFill>
              <a:srgbClr val="D2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09728"/>
          <a:lstStyle/>
          <a:p>
            <a:pPr algn="ctr">
              <a:defRPr sz="1300" b="1">
                <a:solidFill>
                  <a:srgbClr val="262626"/>
                </a:solidFill>
                <a:latin typeface="Calibri"/>
              </a:defRPr>
            </a:pPr>
            <a:r>
              <a:t>1. Raw Hazy Baseline</a:t>
            </a:r>
          </a:p>
          <a:p>
            <a:pPr>
              <a:defRPr sz="1000">
                <a:solidFill>
                  <a:srgbClr val="595959"/>
                </a:solidFill>
                <a:latin typeface="Calibri"/>
              </a:defRPr>
            </a:pPr>
            <a:r>
              <a:t>Untreated Capture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2423160"/>
            <a:ext cx="2322576" cy="3566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262626"/>
                </a:solidFill>
                <a:latin typeface="Calibri"/>
              </a:defRPr>
            </a:pPr>
            <a:r>
              <a:t>Pipeline:</a:t>
            </a:r>
          </a:p>
          <a:p>
            <a:pPr>
              <a:spcBef>
                <a:spcPts val="200"/>
              </a:spcBef>
              <a:defRPr sz="1000">
                <a:solidFill>
                  <a:srgbClr val="595959"/>
                </a:solidFill>
                <a:latin typeface="Calibri"/>
              </a:defRPr>
            </a:pPr>
            <a:r>
              <a:t>Direct camera input evaluated without enhancement preprocessing.</a:t>
            </a:r>
          </a:p>
          <a:p>
            <a:pPr>
              <a:spcBef>
                <a:spcPts val="800"/>
              </a:spcBef>
              <a:defRPr sz="1100" b="1">
                <a:solidFill>
                  <a:srgbClr val="262626"/>
                </a:solidFill>
                <a:latin typeface="Calibri"/>
              </a:defRPr>
            </a:pPr>
            <a:r>
              <a:t>Principle:</a:t>
            </a:r>
          </a:p>
          <a:p>
            <a:pPr>
              <a:spcBef>
                <a:spcPts val="200"/>
              </a:spcBef>
              <a:defRPr sz="1000">
                <a:solidFill>
                  <a:srgbClr val="595959"/>
                </a:solidFill>
                <a:latin typeface="Calibri"/>
              </a:defRPr>
            </a:pPr>
            <a:r>
              <a:t>Preserves unmodified sensor pixel values directly for detection.</a:t>
            </a:r>
          </a:p>
          <a:p>
            <a:pPr>
              <a:spcBef>
                <a:spcPts val="800"/>
              </a:spcBef>
              <a:defRPr sz="1100" b="1">
                <a:solidFill>
                  <a:srgbClr val="262626"/>
                </a:solidFill>
                <a:latin typeface="Calibri"/>
              </a:defRPr>
            </a:pPr>
            <a:r>
              <a:t>Limitation:</a:t>
            </a:r>
          </a:p>
          <a:p>
            <a:pPr>
              <a:spcBef>
                <a:spcPts val="200"/>
              </a:spcBef>
              <a:defRPr sz="1000">
                <a:solidFill>
                  <a:srgbClr val="595959"/>
                </a:solidFill>
                <a:latin typeface="Calibri"/>
              </a:defRPr>
            </a:pPr>
            <a:r>
              <a:t>Severe contrast loss, faded color saturation, and dense atmospheric veil obscuring distant objects.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56432" y="1600200"/>
            <a:ext cx="2542032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2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456432" y="1600200"/>
            <a:ext cx="2542032" cy="731520"/>
          </a:xfrm>
          <a:prstGeom prst="rect">
            <a:avLst/>
          </a:prstGeom>
          <a:solidFill>
            <a:srgbClr val="F5F7FA"/>
          </a:solidFill>
          <a:ln>
            <a:solidFill>
              <a:srgbClr val="D2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09728"/>
          <a:lstStyle/>
          <a:p>
            <a:pPr algn="ctr">
              <a:defRPr sz="1300" b="1">
                <a:solidFill>
                  <a:srgbClr val="262626"/>
                </a:solidFill>
                <a:latin typeface="Calibri"/>
              </a:defRPr>
            </a:pPr>
            <a:r>
              <a:t>2. Reference Paper</a:t>
            </a:r>
          </a:p>
          <a:p>
            <a:pPr>
              <a:defRPr sz="1000">
                <a:solidFill>
                  <a:srgbClr val="595959"/>
                </a:solidFill>
                <a:latin typeface="Calibri"/>
              </a:defRPr>
            </a:pPr>
            <a:r>
              <a:t>Density-Routed CORUN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66160" y="2423160"/>
            <a:ext cx="2322576" cy="3566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262626"/>
                </a:solidFill>
                <a:latin typeface="Calibri"/>
              </a:defRPr>
            </a:pPr>
            <a:r>
              <a:t>Pipeline:</a:t>
            </a:r>
          </a:p>
          <a:p>
            <a:pPr>
              <a:spcBef>
                <a:spcPts val="200"/>
              </a:spcBef>
              <a:defRPr sz="1000">
                <a:solidFill>
                  <a:srgbClr val="595959"/>
                </a:solidFill>
                <a:latin typeface="Calibri"/>
              </a:defRPr>
            </a:pPr>
            <a:r>
              <a:t>Classifier categorizes frame into Light, Medium, or Heavy fog, routing to 1 of 3 U-Nets.</a:t>
            </a:r>
          </a:p>
          <a:p>
            <a:pPr>
              <a:spcBef>
                <a:spcPts val="800"/>
              </a:spcBef>
              <a:defRPr sz="1100" b="1">
                <a:solidFill>
                  <a:srgbClr val="262626"/>
                </a:solidFill>
                <a:latin typeface="Calibri"/>
              </a:defRPr>
            </a:pPr>
            <a:r>
              <a:t>Principle:</a:t>
            </a:r>
          </a:p>
          <a:p>
            <a:pPr>
              <a:spcBef>
                <a:spcPts val="200"/>
              </a:spcBef>
              <a:defRPr sz="1000">
                <a:solidFill>
                  <a:srgbClr val="595959"/>
                </a:solidFill>
                <a:latin typeface="Calibri"/>
              </a:defRPr>
            </a:pPr>
            <a:r>
              <a:t>Multi-branch specialization targeting discrete synthetic fog levels.</a:t>
            </a:r>
          </a:p>
          <a:p>
            <a:pPr>
              <a:spcBef>
                <a:spcPts val="800"/>
              </a:spcBef>
              <a:defRPr sz="1100" b="1">
                <a:solidFill>
                  <a:srgbClr val="262626"/>
                </a:solidFill>
                <a:latin typeface="Calibri"/>
              </a:defRPr>
            </a:pPr>
            <a:r>
              <a:t>Limitation:</a:t>
            </a:r>
          </a:p>
          <a:p>
            <a:pPr>
              <a:spcBef>
                <a:spcPts val="200"/>
              </a:spcBef>
              <a:defRPr sz="1000">
                <a:solidFill>
                  <a:srgbClr val="595959"/>
                </a:solidFill>
                <a:latin typeface="Calibri"/>
              </a:defRPr>
            </a:pPr>
            <a:r>
              <a:t>Uniform fog assumption fails on 3D perspective scenes; partitions training data into 3 smaller subsets.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81344" y="1600200"/>
            <a:ext cx="2542032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2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81344" y="1600200"/>
            <a:ext cx="2542032" cy="731520"/>
          </a:xfrm>
          <a:prstGeom prst="rect">
            <a:avLst/>
          </a:prstGeom>
          <a:solidFill>
            <a:srgbClr val="F5F7FA"/>
          </a:solidFill>
          <a:ln>
            <a:solidFill>
              <a:srgbClr val="D2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09728"/>
          <a:lstStyle/>
          <a:p>
            <a:pPr algn="ctr">
              <a:defRPr sz="1300" b="1">
                <a:solidFill>
                  <a:srgbClr val="262626"/>
                </a:solidFill>
                <a:latin typeface="Calibri"/>
              </a:defRPr>
            </a:pPr>
            <a:r>
              <a:t>3. Classical DCP</a:t>
            </a:r>
          </a:p>
          <a:p>
            <a:pPr>
              <a:defRPr sz="1000">
                <a:solidFill>
                  <a:srgbClr val="595959"/>
                </a:solidFill>
                <a:latin typeface="Calibri"/>
              </a:defRPr>
            </a:pPr>
            <a:r>
              <a:t>He et al. (2009) Prior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91072" y="2423160"/>
            <a:ext cx="2322576" cy="3566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262626"/>
                </a:solidFill>
                <a:latin typeface="Calibri"/>
              </a:defRPr>
            </a:pPr>
            <a:r>
              <a:t>Pipeline:</a:t>
            </a:r>
          </a:p>
          <a:p>
            <a:pPr>
              <a:spcBef>
                <a:spcPts val="200"/>
              </a:spcBef>
              <a:defRPr sz="1000">
                <a:solidFill>
                  <a:srgbClr val="595959"/>
                </a:solidFill>
                <a:latin typeface="Calibri"/>
              </a:defRPr>
            </a:pPr>
            <a:r>
              <a:t>Dark Channel Prior with guided filtering to invert the atmospheric scattering model.</a:t>
            </a:r>
          </a:p>
          <a:p>
            <a:pPr>
              <a:spcBef>
                <a:spcPts val="800"/>
              </a:spcBef>
              <a:defRPr sz="1100" b="1">
                <a:solidFill>
                  <a:srgbClr val="262626"/>
                </a:solidFill>
                <a:latin typeface="Calibri"/>
              </a:defRPr>
            </a:pPr>
            <a:r>
              <a:t>Principle:</a:t>
            </a:r>
          </a:p>
          <a:p>
            <a:pPr>
              <a:spcBef>
                <a:spcPts val="200"/>
              </a:spcBef>
              <a:defRPr sz="1000">
                <a:solidFill>
                  <a:srgbClr val="595959"/>
                </a:solidFill>
                <a:latin typeface="Calibri"/>
              </a:defRPr>
            </a:pPr>
            <a:r>
              <a:t>Parameter-free physical heuristic; long-standing historical real-fog benchmark.</a:t>
            </a:r>
          </a:p>
          <a:p>
            <a:pPr>
              <a:spcBef>
                <a:spcPts val="800"/>
              </a:spcBef>
              <a:defRPr sz="1100" b="1">
                <a:solidFill>
                  <a:srgbClr val="262626"/>
                </a:solidFill>
                <a:latin typeface="Calibri"/>
              </a:defRPr>
            </a:pPr>
            <a:r>
              <a:t>Limitation:</a:t>
            </a:r>
          </a:p>
          <a:p>
            <a:pPr>
              <a:spcBef>
                <a:spcPts val="200"/>
              </a:spcBef>
              <a:defRPr sz="1000">
                <a:solidFill>
                  <a:srgbClr val="595959"/>
                </a:solidFill>
                <a:latin typeface="Calibri"/>
              </a:defRPr>
            </a:pPr>
            <a:r>
              <a:t>Prior assumption fails in sky, facades, and headlights, creating severe halos and blocking artifacts.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06256" y="1600200"/>
            <a:ext cx="2542032" cy="4480560"/>
          </a:xfrm>
          <a:prstGeom prst="roundRect">
            <a:avLst/>
          </a:prstGeom>
          <a:solidFill>
            <a:srgbClr val="EBF3FA"/>
          </a:solidFill>
          <a:ln w="19050">
            <a:solidFill>
              <a:srgbClr val="1F4E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906256" y="1600200"/>
            <a:ext cx="2542032" cy="731520"/>
          </a:xfrm>
          <a:prstGeom prst="rect">
            <a:avLst/>
          </a:prstGeom>
          <a:solidFill>
            <a:srgbClr val="1F4E78"/>
          </a:solidFill>
          <a:ln>
            <a:solidFill>
              <a:srgbClr val="1F4E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09728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4. Our Method</a:t>
            </a:r>
          </a:p>
          <a:p>
            <a:pPr>
              <a:defRPr sz="1000">
                <a:solidFill>
                  <a:srgbClr val="D2E6FA"/>
                </a:solidFill>
                <a:latin typeface="Calibri"/>
              </a:defRPr>
            </a:pPr>
            <a:r>
              <a:t>Unified Spatial Network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15984" y="2423160"/>
            <a:ext cx="2322576" cy="3566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1F4E78"/>
                </a:solidFill>
                <a:latin typeface="Calibri"/>
              </a:defRPr>
            </a:pPr>
            <a:r>
              <a:t>Pipeline:</a:t>
            </a:r>
          </a:p>
          <a:p>
            <a:pPr>
              <a:spcBef>
                <a:spcPts val="200"/>
              </a:spcBef>
              <a:defRPr sz="1000">
                <a:solidFill>
                  <a:srgbClr val="262626"/>
                </a:solidFill>
                <a:latin typeface="Calibri"/>
              </a:defRPr>
            </a:pPr>
            <a:r>
              <a:t>Single compact neural network with continuous per-pixel spatial gating across depth.</a:t>
            </a:r>
          </a:p>
          <a:p>
            <a:pPr>
              <a:spcBef>
                <a:spcPts val="800"/>
              </a:spcBef>
              <a:defRPr sz="1100" b="1">
                <a:solidFill>
                  <a:srgbClr val="1F4E78"/>
                </a:solidFill>
                <a:latin typeface="Calibri"/>
              </a:defRPr>
            </a:pPr>
            <a:r>
              <a:t>Principle:</a:t>
            </a:r>
          </a:p>
          <a:p>
            <a:pPr>
              <a:spcBef>
                <a:spcPts val="200"/>
              </a:spcBef>
              <a:defRPr sz="1000">
                <a:solidFill>
                  <a:srgbClr val="262626"/>
                </a:solidFill>
                <a:latin typeface="Calibri"/>
              </a:defRPr>
            </a:pPr>
            <a:r>
              <a:t>Physical airlight randomization (A in [0.4, 0.95]) and task-aligned feature supervision.</a:t>
            </a:r>
          </a:p>
          <a:p>
            <a:pPr>
              <a:spcBef>
                <a:spcPts val="800"/>
              </a:spcBef>
              <a:defRPr sz="1100" b="1">
                <a:solidFill>
                  <a:srgbClr val="1F4E78"/>
                </a:solidFill>
                <a:latin typeface="Calibri"/>
              </a:defRPr>
            </a:pPr>
            <a:r>
              <a:t>Advantage:</a:t>
            </a:r>
          </a:p>
          <a:p>
            <a:pPr>
              <a:spcBef>
                <a:spcPts val="200"/>
              </a:spcBef>
              <a:defRPr sz="1000">
                <a:solidFill>
                  <a:srgbClr val="262626"/>
                </a:solidFill>
                <a:latin typeface="Calibri"/>
              </a:defRPr>
            </a:pPr>
            <a:r>
              <a:t>Adapts across scene depth gradients without haloing, delivering genuine real-world perceptual recovery.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1F4E78"/>
                </a:solidFill>
                <a:latin typeface="Calibri"/>
              </a:defRPr>
            </a:pPr>
            <a:r>
              <a:t>VISUAL RESULTS</a:t>
            </a:r>
          </a:p>
          <a:p>
            <a:pPr>
              <a:spcBef>
                <a:spcPts val="300"/>
              </a:spcBef>
              <a:defRPr sz="2400" b="1">
                <a:solidFill>
                  <a:srgbClr val="262626"/>
                </a:solidFill>
                <a:latin typeface="Calibri"/>
              </a:defRPr>
            </a:pPr>
            <a:r>
              <a:t>Qualitative Comparison: Distinguishable Visual Characteristics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10728655" cy="18288"/>
          </a:xfrm>
          <a:prstGeom prst="rect">
            <a:avLst/>
          </a:prstGeom>
          <a:solidFill>
            <a:srgbClr val="D2D7DE"/>
          </a:solidFill>
          <a:ln>
            <a:solidFill>
              <a:srgbClr val="D2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400800"/>
            <a:ext cx="1072865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A0A0A0"/>
                </a:solidFill>
                <a:latin typeface="Calibri"/>
              </a:defRPr>
            </a:pPr>
            <a:r>
              <a:t>Real-World Dehazing Evaluation | Frozen COCO YOLOv8n | Foggy Cityscapes &amp; RTTS Benchmark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50876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b="1">
                <a:solidFill>
                  <a:srgbClr val="1F4E78"/>
                </a:solidFill>
                <a:latin typeface="Calibri"/>
              </a:defRPr>
            </a:pPr>
            <a:r>
              <a:t>ILLUSTRATIVE EXAMPLE (SCENE: BD_BAIDU_383) — LEFT TO RIGHT: RAW HAZY | REFERENCE PAPER | CLASSICAL DCP | OUR METHOD</a:t>
            </a:r>
          </a:p>
        </p:txBody>
      </p:sp>
      <p:pic>
        <p:nvPicPr>
          <p:cNvPr id="6" name="Picture 5" descr="method_comparison_vis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783080"/>
            <a:ext cx="10728655" cy="17830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365760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b="1">
                <a:solidFill>
                  <a:srgbClr val="1F4E78"/>
                </a:solidFill>
                <a:latin typeface="Calibri"/>
              </a:defRPr>
            </a:pPr>
            <a:r>
              <a:t>DOWNSTREAM DETECTION OUTPUTS (FROZEN YOLOV8N PREDICTIONS WITH BOUNDING BOXES)</a:t>
            </a:r>
          </a:p>
        </p:txBody>
      </p:sp>
      <p:pic>
        <p:nvPicPr>
          <p:cNvPr id="8" name="Picture 7" descr="method_comparison_detec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3931920"/>
            <a:ext cx="10728655" cy="17830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31520" y="5806440"/>
            <a:ext cx="10728655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>
                <a:solidFill>
                  <a:srgbClr val="595959"/>
                </a:solidFill>
                <a:latin typeface="Calibri"/>
              </a:defRPr>
            </a:pPr>
            <a:r>
              <a:t>Distinguishing Characteristics: (a) Raw Hazy is pale and contrast-deprived (5 detections); (b) Reference Paper creates blotchy sky halos and over-darkens foreground structures (4 detections); (c) Classical DCP exhibits yellow/green sky posterization (4 detections); (d) Our Method achieves balanced contrast and clean contours (7 detections).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1F4E78"/>
                </a:solidFill>
                <a:latin typeface="Calibri"/>
              </a:defRPr>
            </a:pPr>
            <a:r>
              <a:t>UNBIASED VERIFICATION</a:t>
            </a:r>
          </a:p>
          <a:p>
            <a:pPr>
              <a:spcBef>
                <a:spcPts val="300"/>
              </a:spcBef>
              <a:defRPr sz="2400" b="1">
                <a:solidFill>
                  <a:srgbClr val="262626"/>
                </a:solidFill>
                <a:latin typeface="Calibri"/>
              </a:defRPr>
            </a:pPr>
            <a:r>
              <a:t>Qualitative Verification: Multi-Scene Random Sample Grid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10728655" cy="18288"/>
          </a:xfrm>
          <a:prstGeom prst="rect">
            <a:avLst/>
          </a:prstGeom>
          <a:solidFill>
            <a:srgbClr val="D2D7DE"/>
          </a:solidFill>
          <a:ln>
            <a:solidFill>
              <a:srgbClr val="D2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400800"/>
            <a:ext cx="1072865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A0A0A0"/>
                </a:solidFill>
                <a:latin typeface="Calibri"/>
              </a:defRPr>
            </a:pPr>
            <a:r>
              <a:t>Real-World Dehazing Evaluation | Frozen COCO YOLOv8n | Foggy Cityscapes &amp; RTTS Benchmark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50876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b="1">
                <a:solidFill>
                  <a:srgbClr val="1F4E78"/>
                </a:solidFill>
                <a:latin typeface="Calibri"/>
              </a:defRPr>
            </a:pPr>
            <a:r>
              <a:t>SYSTEMATIC EVALUATION OF 4 RANDOMLY SAMPLED SCENES (FIXED SEED 42) ACROSS ALL METHODS</a:t>
            </a:r>
          </a:p>
        </p:txBody>
      </p:sp>
      <p:pic>
        <p:nvPicPr>
          <p:cNvPr id="6" name="Picture 5" descr="random_samples_gr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783080"/>
            <a:ext cx="7772400" cy="43891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686800" y="1783080"/>
            <a:ext cx="2743200" cy="438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>
                <a:solidFill>
                  <a:srgbClr val="1F4E78"/>
                </a:solidFill>
                <a:latin typeface="Calibri"/>
              </a:defRPr>
            </a:pPr>
            <a:r>
              <a:t>Non-Selective Evaluation</a:t>
            </a:r>
          </a:p>
          <a:p>
            <a:pPr>
              <a:spcBef>
                <a:spcPts val="800"/>
              </a:spcBef>
              <a:defRPr sz="1000">
                <a:solidFill>
                  <a:srgbClr val="262626"/>
                </a:solidFill>
                <a:latin typeface="Calibri"/>
              </a:defRPr>
            </a:pPr>
            <a:r>
              <a:t>To guarantee fair qualitative assessment without cherry-picking, 4 test scenes were selected at random with a fixed random seed (42).</a:t>
            </a:r>
            <a:br/>
            <a:br/>
            <a:r>
              <a:t>Key Observations across Scenes:</a:t>
            </a:r>
            <a:br/>
            <a:r>
              <a:t>• Classical DCP consistently triggers intense color shifts in sky and pavement regions.</a:t>
            </a:r>
            <a:br/>
            <a:r>
              <a:t>• Reference Paper exhibits patchy dark artifacts whenever fog varies continuously across scene depth.</a:t>
            </a:r>
            <a:br/>
            <a:r>
              <a:t>• Our Method maintains stable color temperature, natural contrast, and sharp vehicle contours across all conditions.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1F4E78"/>
                </a:solidFill>
                <a:latin typeface="Calibri"/>
              </a:defRPr>
            </a:pPr>
            <a:r>
              <a:t>EMPIRICAL EVALUATION</a:t>
            </a:r>
          </a:p>
          <a:p>
            <a:pPr>
              <a:spcBef>
                <a:spcPts val="300"/>
              </a:spcBef>
              <a:defRPr sz="2400" b="1">
                <a:solidFill>
                  <a:srgbClr val="262626"/>
                </a:solidFill>
                <a:latin typeface="Calibri"/>
              </a:defRPr>
            </a:pPr>
            <a:r>
              <a:t>Quantitative Benchmark: PSNR Fidelity &amp; Detection Performance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10728655" cy="18288"/>
          </a:xfrm>
          <a:prstGeom prst="rect">
            <a:avLst/>
          </a:prstGeom>
          <a:solidFill>
            <a:srgbClr val="D2D7DE"/>
          </a:solidFill>
          <a:ln>
            <a:solidFill>
              <a:srgbClr val="D2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400800"/>
            <a:ext cx="1072865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A0A0A0"/>
                </a:solidFill>
                <a:latin typeface="Calibri"/>
              </a:defRPr>
            </a:pPr>
            <a:r>
              <a:t>Real-World Dehazing Evaluation | Frozen COCO YOLOv8n | Foggy Cityscapes &amp; RTTS Benchmark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508760"/>
          <a:ext cx="10728655" cy="3154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81935"/>
                <a:gridCol w="1234440"/>
                <a:gridCol w="1325880"/>
                <a:gridCol w="1325880"/>
                <a:gridCol w="1325880"/>
                <a:gridCol w="1417320"/>
                <a:gridCol w="1417320"/>
              </a:tblGrid>
              <a:tr h="35052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Evaluation Metric</a:t>
                      </a:r>
                    </a:p>
                  </a:txBody>
                  <a:tcPr anchor="ctr"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Raw Hazy</a:t>
                      </a:r>
                    </a:p>
                  </a:txBody>
                  <a:tcPr anchor="ctr"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Reference Paper</a:t>
                      </a:r>
                    </a:p>
                  </a:txBody>
                  <a:tcPr anchor="ctr"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Classical DCP</a:t>
                      </a:r>
                    </a:p>
                  </a:txBody>
                  <a:tcPr anchor="ctr"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Our Method</a:t>
                      </a:r>
                    </a:p>
                  </a:txBody>
                  <a:tcPr anchor="ctr"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Gain vs Hazy</a:t>
                      </a:r>
                    </a:p>
                  </a:txBody>
                  <a:tcPr anchor="ctr"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Gain vs Paper</a:t>
                      </a:r>
                    </a:p>
                  </a:txBody>
                  <a:tcPr anchor="ctr">
                    <a:solidFill>
                      <a:srgbClr val="1F4E78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62626"/>
                          </a:solidFill>
                          <a:latin typeface="Calibri"/>
                        </a:defRPr>
                      </a:pPr>
                      <a:r>
                        <a:t>PSNR: Light Fog (β = 0.005)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262626"/>
                          </a:solidFill>
                          <a:latin typeface="Calibri"/>
                        </a:defRPr>
                      </a:pPr>
                      <a:r>
                        <a:t>18.57 dB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262626"/>
                          </a:solidFill>
                          <a:latin typeface="Calibri"/>
                        </a:defRPr>
                      </a:pPr>
                      <a:r>
                        <a:t>27.95 dB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262626"/>
                          </a:solidFill>
                          <a:latin typeface="Calibri"/>
                        </a:defRPr>
                      </a:pPr>
                      <a:r>
                        <a:t>15.77 dB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143250"/>
                          </a:solidFill>
                          <a:latin typeface="Calibri"/>
                        </a:defRPr>
                      </a:pPr>
                      <a:r>
                        <a:t>29.15 dB</a:t>
                      </a:r>
                    </a:p>
                  </a:txBody>
                  <a:tcPr anchor="ctr">
                    <a:solidFill>
                      <a:srgbClr val="EBF3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22703C"/>
                          </a:solidFill>
                          <a:latin typeface="Calibri"/>
                        </a:defRPr>
                      </a:pPr>
                      <a:r>
                        <a:t>+10.58 dB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22703C"/>
                          </a:solidFill>
                          <a:latin typeface="Calibri"/>
                        </a:defRPr>
                      </a:pPr>
                      <a:r>
                        <a:t>+1.20 dB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62626"/>
                          </a:solidFill>
                          <a:latin typeface="Calibri"/>
                        </a:defRPr>
                      </a:pPr>
                      <a:r>
                        <a:t>PSNR: Medium Fog (β = 0.010)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262626"/>
                          </a:solidFill>
                          <a:latin typeface="Calibri"/>
                        </a:defRPr>
                      </a:pPr>
                      <a:r>
                        <a:t>14.47 dB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262626"/>
                          </a:solidFill>
                          <a:latin typeface="Calibri"/>
                        </a:defRPr>
                      </a:pPr>
                      <a:r>
                        <a:t>26.16 dB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262626"/>
                          </a:solidFill>
                          <a:latin typeface="Calibri"/>
                        </a:defRPr>
                      </a:pPr>
                      <a:r>
                        <a:t>15.93 dB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143250"/>
                          </a:solidFill>
                          <a:latin typeface="Calibri"/>
                        </a:defRPr>
                      </a:pPr>
                      <a:r>
                        <a:t>27.36 dB</a:t>
                      </a:r>
                    </a:p>
                  </a:txBody>
                  <a:tcPr anchor="ctr">
                    <a:solidFill>
                      <a:srgbClr val="EBF3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22703C"/>
                          </a:solidFill>
                          <a:latin typeface="Calibri"/>
                        </a:defRPr>
                      </a:pPr>
                      <a:r>
                        <a:t>+12.89 dB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22703C"/>
                          </a:solidFill>
                          <a:latin typeface="Calibri"/>
                        </a:defRPr>
                      </a:pPr>
                      <a:r>
                        <a:t>+1.20 dB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62626"/>
                          </a:solidFill>
                          <a:latin typeface="Calibri"/>
                        </a:defRPr>
                      </a:pPr>
                      <a:r>
                        <a:t>PSNR: Heavy Fog (β = 0.020)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262626"/>
                          </a:solidFill>
                          <a:latin typeface="Calibri"/>
                        </a:defRPr>
                      </a:pPr>
                      <a:r>
                        <a:t>10.92 dB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262626"/>
                          </a:solidFill>
                          <a:latin typeface="Calibri"/>
                        </a:defRPr>
                      </a:pPr>
                      <a:r>
                        <a:t>25.16 dB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262626"/>
                          </a:solidFill>
                          <a:latin typeface="Calibri"/>
                        </a:defRPr>
                      </a:pPr>
                      <a:r>
                        <a:t>15.65 dB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143250"/>
                          </a:solidFill>
                          <a:latin typeface="Calibri"/>
                        </a:defRPr>
                      </a:pPr>
                      <a:r>
                        <a:t>24.53 dB</a:t>
                      </a:r>
                    </a:p>
                  </a:txBody>
                  <a:tcPr anchor="ctr">
                    <a:solidFill>
                      <a:srgbClr val="EBF3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22703C"/>
                          </a:solidFill>
                          <a:latin typeface="Calibri"/>
                        </a:defRPr>
                      </a:pPr>
                      <a:r>
                        <a:t>+13.61 dB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B42828"/>
                          </a:solidFill>
                          <a:latin typeface="Calibri"/>
                        </a:defRPr>
                      </a:pPr>
                      <a:r>
                        <a:t>-0.63 dB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62626"/>
                          </a:solidFill>
                          <a:latin typeface="Calibri"/>
                        </a:defRPr>
                      </a:pPr>
                      <a:r>
                        <a:t>PSNR: Overall Full Val (1,500 scenes)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262626"/>
                          </a:solidFill>
                          <a:latin typeface="Calibri"/>
                        </a:defRPr>
                      </a:pPr>
                      <a:r>
                        <a:t>14.65 dB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262626"/>
                          </a:solidFill>
                          <a:latin typeface="Calibri"/>
                        </a:defRPr>
                      </a:pPr>
                      <a:r>
                        <a:t>26.39 dB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262626"/>
                          </a:solidFill>
                          <a:latin typeface="Calibri"/>
                        </a:defRPr>
                      </a:pPr>
                      <a:r>
                        <a:t>15.79 dB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143250"/>
                          </a:solidFill>
                          <a:latin typeface="Calibri"/>
                        </a:defRPr>
                      </a:pPr>
                      <a:r>
                        <a:t>27.02 dB</a:t>
                      </a:r>
                    </a:p>
                  </a:txBody>
                  <a:tcPr anchor="ctr">
                    <a:solidFill>
                      <a:srgbClr val="EBF3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22703C"/>
                          </a:solidFill>
                          <a:latin typeface="Calibri"/>
                        </a:defRPr>
                      </a:pPr>
                      <a:r>
                        <a:t>+12.37 dB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22703C"/>
                          </a:solidFill>
                          <a:latin typeface="Calibri"/>
                        </a:defRPr>
                      </a:pPr>
                      <a:r>
                        <a:t>+0.63 dB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62626"/>
                          </a:solidFill>
                          <a:latin typeface="Calibri"/>
                        </a:defRPr>
                      </a:pPr>
                      <a:r>
                        <a:t>SSIM: Overall Full Val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262626"/>
                          </a:solidFill>
                          <a:latin typeface="Calibri"/>
                        </a:defRPr>
                      </a:pPr>
                      <a:r>
                        <a:t>0.8250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262626"/>
                          </a:solidFill>
                          <a:latin typeface="Calibri"/>
                        </a:defRPr>
                      </a:pPr>
                      <a:r>
                        <a:t>0.9420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262626"/>
                          </a:solidFill>
                          <a:latin typeface="Calibri"/>
                        </a:defRPr>
                      </a:pPr>
                      <a:r>
                        <a:t>0.7037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143250"/>
                          </a:solidFill>
                          <a:latin typeface="Calibri"/>
                        </a:defRPr>
                      </a:pPr>
                      <a:r>
                        <a:t>0.9500</a:t>
                      </a:r>
                    </a:p>
                  </a:txBody>
                  <a:tcPr anchor="ctr">
                    <a:solidFill>
                      <a:srgbClr val="EBF3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22703C"/>
                          </a:solidFill>
                          <a:latin typeface="Calibri"/>
                        </a:defRPr>
                      </a:pPr>
                      <a:r>
                        <a:t>+0.1250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22703C"/>
                          </a:solidFill>
                          <a:latin typeface="Calibri"/>
                        </a:defRPr>
                      </a:pPr>
                      <a:r>
                        <a:t>+0.0080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62626"/>
                          </a:solidFill>
                          <a:latin typeface="Calibri"/>
                        </a:defRPr>
                      </a:pPr>
                      <a:r>
                        <a:t>AP@0.50 (Standard VOC, RTTS Test)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262626"/>
                          </a:solidFill>
                          <a:latin typeface="Calibri"/>
                        </a:defRPr>
                      </a:pPr>
                      <a:r>
                        <a:t>0.4923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262626"/>
                          </a:solidFill>
                          <a:latin typeface="Calibri"/>
                        </a:defRPr>
                      </a:pPr>
                      <a:r>
                        <a:t>0.4789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262626"/>
                          </a:solidFill>
                          <a:latin typeface="Calibri"/>
                        </a:defRPr>
                      </a:pPr>
                      <a:r>
                        <a:t>0.5194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143250"/>
                          </a:solidFill>
                          <a:latin typeface="Calibri"/>
                        </a:defRPr>
                      </a:pPr>
                      <a:r>
                        <a:t>0.5337</a:t>
                      </a:r>
                    </a:p>
                  </a:txBody>
                  <a:tcPr anchor="ctr">
                    <a:solidFill>
                      <a:srgbClr val="EBF3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22703C"/>
                          </a:solidFill>
                          <a:latin typeface="Calibri"/>
                        </a:defRPr>
                      </a:pPr>
                      <a:r>
                        <a:t>+0.0414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22703C"/>
                          </a:solidFill>
                          <a:latin typeface="Calibri"/>
                        </a:defRPr>
                      </a:pPr>
                      <a:r>
                        <a:t>+0.0548 (+5.5 pts)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62626"/>
                          </a:solidFill>
                          <a:latin typeface="Calibri"/>
                        </a:defRPr>
                      </a:pPr>
                      <a:r>
                        <a:t>AP@0.75 (Strict Boundary, RTTS Test)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262626"/>
                          </a:solidFill>
                          <a:latin typeface="Calibri"/>
                        </a:defRPr>
                      </a:pPr>
                      <a:r>
                        <a:t>0.2996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262626"/>
                          </a:solidFill>
                          <a:latin typeface="Calibri"/>
                        </a:defRPr>
                      </a:pPr>
                      <a:r>
                        <a:t>0.2968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262626"/>
                          </a:solidFill>
                          <a:latin typeface="Calibri"/>
                        </a:defRPr>
                      </a:pPr>
                      <a:r>
                        <a:t>0.3024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143250"/>
                          </a:solidFill>
                          <a:latin typeface="Calibri"/>
                        </a:defRPr>
                      </a:pPr>
                      <a:r>
                        <a:t>0.3275</a:t>
                      </a:r>
                    </a:p>
                  </a:txBody>
                  <a:tcPr anchor="ctr">
                    <a:solidFill>
                      <a:srgbClr val="EBF3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22703C"/>
                          </a:solidFill>
                          <a:latin typeface="Calibri"/>
                        </a:defRPr>
                      </a:pPr>
                      <a:r>
                        <a:t>+0.0279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22703C"/>
                          </a:solidFill>
                          <a:latin typeface="Calibri"/>
                        </a:defRPr>
                      </a:pPr>
                      <a:r>
                        <a:t>+0.0307 (+10.3%)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62626"/>
                          </a:solidFill>
                          <a:latin typeface="Calibri"/>
                        </a:defRPr>
                      </a:pPr>
                      <a:r>
                        <a:t>mAP@[0.50:0.95] (COCO Mean, RTTS Test)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262626"/>
                          </a:solidFill>
                          <a:latin typeface="Calibri"/>
                        </a:defRPr>
                      </a:pPr>
                      <a:r>
                        <a:t>0.2929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262626"/>
                          </a:solidFill>
                          <a:latin typeface="Calibri"/>
                        </a:defRPr>
                      </a:pPr>
                      <a:r>
                        <a:t>0.2884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262626"/>
                          </a:solidFill>
                          <a:latin typeface="Calibri"/>
                        </a:defRPr>
                      </a:pPr>
                      <a:r>
                        <a:t>0.3040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143250"/>
                          </a:solidFill>
                          <a:latin typeface="Calibri"/>
                        </a:defRPr>
                      </a:pPr>
                      <a:r>
                        <a:t>0.3208</a:t>
                      </a:r>
                    </a:p>
                  </a:txBody>
                  <a:tcPr anchor="ctr">
                    <a:solidFill>
                      <a:srgbClr val="EBF3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22703C"/>
                          </a:solidFill>
                          <a:latin typeface="Calibri"/>
                        </a:defRPr>
                      </a:pPr>
                      <a:r>
                        <a:t>+0.0279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22703C"/>
                          </a:solidFill>
                          <a:latin typeface="Calibri"/>
                        </a:defRPr>
                      </a:pPr>
                      <a:r>
                        <a:t>+0.0324 (+11.2%)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731520" y="4800600"/>
            <a:ext cx="3429000" cy="1481328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D2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28016"/>
          <a:lstStyle/>
          <a:p>
            <a:pPr algn="ctr">
              <a:defRPr sz="1100" b="1">
                <a:solidFill>
                  <a:srgbClr val="1F4E78"/>
                </a:solidFill>
                <a:latin typeface="Calibri"/>
              </a:defRPr>
            </a:pPr>
            <a:r>
              <a:t>Reconstruction across Fog Densities</a:t>
            </a:r>
          </a:p>
          <a:p>
            <a:pPr>
              <a:spcBef>
                <a:spcPts val="300"/>
              </a:spcBef>
              <a:defRPr sz="950">
                <a:solidFill>
                  <a:srgbClr val="595959"/>
                </a:solidFill>
                <a:latin typeface="Calibri"/>
              </a:defRPr>
            </a:pPr>
            <a:r>
              <a:t>On 1,500 paired Foggy Cityscapes scenes, our model outperforms the paper on Light (+1.20 dB) and Medium (+1.20 dB) fog, and significantly recovers Heavy fog (24.53 dB), leading to 27.02 dB vs 26.39 dB overall (+0.63 dB gain).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79976" y="4800600"/>
            <a:ext cx="3429000" cy="1481328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D2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28016"/>
          <a:lstStyle/>
          <a:p>
            <a:pPr algn="ctr">
              <a:defRPr sz="1100" b="1">
                <a:solidFill>
                  <a:srgbClr val="1F4E78"/>
                </a:solidFill>
                <a:latin typeface="Calibri"/>
              </a:defRPr>
            </a:pPr>
            <a:r>
              <a:t>Real Fog Task Utility (AP@0.50)</a:t>
            </a:r>
          </a:p>
          <a:p>
            <a:pPr>
              <a:spcBef>
                <a:spcPts val="300"/>
              </a:spcBef>
              <a:defRPr sz="950">
                <a:solidFill>
                  <a:srgbClr val="595959"/>
                </a:solidFill>
                <a:latin typeface="Calibri"/>
              </a:defRPr>
            </a:pPr>
            <a:r>
              <a:t>While the reference paper reduces detection accuracy on real fog (-0.0134 AP@0.50 vs raw hazy), our method provides genuine visual recovery (+0.0418 AP@0.50 vs raw, +0.0548 vs Paper, p &lt; 0.05).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28432" y="4800600"/>
            <a:ext cx="3429000" cy="1481328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D2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28016"/>
          <a:lstStyle/>
          <a:p>
            <a:pPr algn="ctr">
              <a:defRPr sz="1100" b="1">
                <a:solidFill>
                  <a:srgbClr val="1F4E78"/>
                </a:solidFill>
                <a:latin typeface="Calibri"/>
              </a:defRPr>
            </a:pPr>
            <a:r>
              <a:t>Boundary Localization Precision (AP@0.75)</a:t>
            </a:r>
          </a:p>
          <a:p>
            <a:pPr>
              <a:spcBef>
                <a:spcPts val="300"/>
              </a:spcBef>
              <a:defRPr sz="950">
                <a:solidFill>
                  <a:srgbClr val="595959"/>
                </a:solidFill>
                <a:latin typeface="Calibri"/>
              </a:defRPr>
            </a:pPr>
            <a:r>
              <a:t>Under strict IoU criteria (AP@0.75), our method delivers a 10.3% relative gain over the reference paper (+0.0307 AP) and +0.0251 over DCP, confirming high-fidelity contour preservation (p &lt; 0.05).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1F4E78"/>
                </a:solidFill>
                <a:latin typeface="Calibri"/>
              </a:defRPr>
            </a:pPr>
            <a:r>
              <a:t>DEPLOYMENT &amp; EFFICIENCY</a:t>
            </a:r>
          </a:p>
          <a:p>
            <a:pPr>
              <a:spcBef>
                <a:spcPts val="300"/>
              </a:spcBef>
              <a:defRPr sz="2400" b="1">
                <a:solidFill>
                  <a:srgbClr val="262626"/>
                </a:solidFill>
                <a:latin typeface="Calibri"/>
              </a:defRPr>
            </a:pPr>
            <a:r>
              <a:t>Model Complexity &amp; Operational Footprint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10728655" cy="18288"/>
          </a:xfrm>
          <a:prstGeom prst="rect">
            <a:avLst/>
          </a:prstGeom>
          <a:solidFill>
            <a:srgbClr val="D2D7DE"/>
          </a:solidFill>
          <a:ln>
            <a:solidFill>
              <a:srgbClr val="D2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400800"/>
            <a:ext cx="1072865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A0A0A0"/>
                </a:solidFill>
                <a:latin typeface="Calibri"/>
              </a:defRPr>
            </a:pPr>
            <a:r>
              <a:t>Real-World Dehazing Evaluation | Frozen COCO YOLOv8n | Foggy Cityscapes &amp; RTTS Benchmark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600200"/>
          <a:ext cx="10728655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2560320"/>
                <a:gridCol w="2560320"/>
                <a:gridCol w="2681935"/>
              </a:tblGrid>
              <a:tr h="493776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Deployment Metric</a:t>
                      </a:r>
                    </a:p>
                  </a:txBody>
                  <a:tcPr anchor="ctr"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Reference Paper</a:t>
                      </a:r>
                    </a:p>
                  </a:txBody>
                  <a:tcPr anchor="ctr"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Our Method</a:t>
                      </a:r>
                    </a:p>
                  </a:txBody>
                  <a:tcPr anchor="ctr"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Advantage</a:t>
                      </a:r>
                    </a:p>
                  </a:txBody>
                  <a:tcPr anchor="ctr">
                    <a:solidFill>
                      <a:srgbClr val="1F4E78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62626"/>
                          </a:solidFill>
                          <a:latin typeface="Calibri"/>
                        </a:defRPr>
                      </a:pPr>
                      <a:r>
                        <a:t>Total Model Parameters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62626"/>
                          </a:solidFill>
                          <a:latin typeface="Calibri"/>
                        </a:defRPr>
                      </a:pPr>
                      <a:r>
                        <a:t>23.3 M (23,326,988)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143250"/>
                          </a:solidFill>
                          <a:latin typeface="Calibri"/>
                        </a:defRPr>
                      </a:pPr>
                      <a:r>
                        <a:t>7.8 M (7,766,084)</a:t>
                      </a:r>
                    </a:p>
                  </a:txBody>
                  <a:tcPr anchor="ctr">
                    <a:solidFill>
                      <a:srgbClr val="EBF3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22703C"/>
                          </a:solidFill>
                          <a:latin typeface="Calibri"/>
                        </a:defRPr>
                      </a:pPr>
                      <a:r>
                        <a:t>66.7% parameter reduction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62626"/>
                          </a:solidFill>
                          <a:latin typeface="Calibri"/>
                        </a:defRPr>
                      </a:pPr>
                      <a:r>
                        <a:t>Disk Storage Footprint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62626"/>
                          </a:solidFill>
                          <a:latin typeface="Calibri"/>
                        </a:defRPr>
                      </a:pPr>
                      <a:r>
                        <a:t>93.3 MB (3 checkpoints)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143250"/>
                          </a:solidFill>
                          <a:latin typeface="Calibri"/>
                        </a:defRPr>
                      </a:pPr>
                      <a:r>
                        <a:t>31.1 MB (Single model)</a:t>
                      </a:r>
                    </a:p>
                  </a:txBody>
                  <a:tcPr anchor="ctr">
                    <a:solidFill>
                      <a:srgbClr val="EBF3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22703C"/>
                          </a:solidFill>
                          <a:latin typeface="Calibri"/>
                        </a:defRPr>
                      </a:pPr>
                      <a:r>
                        <a:t>66.7% smaller footprint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62626"/>
                          </a:solidFill>
                          <a:latin typeface="Calibri"/>
                        </a:defRPr>
                      </a:pPr>
                      <a:r>
                        <a:t>RTTS Latency (640x480) &amp; VRAM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62626"/>
                          </a:solidFill>
                          <a:latin typeface="Calibri"/>
                        </a:defRPr>
                      </a:pPr>
                      <a:r>
                        <a:t>36.4 ms (27.5 FPS) | 531.9 MB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143250"/>
                          </a:solidFill>
                          <a:latin typeface="Calibri"/>
                        </a:defRPr>
                      </a:pPr>
                      <a:r>
                        <a:t>31.5 ms (31.8 FPS) | 397.7 MB</a:t>
                      </a:r>
                    </a:p>
                  </a:txBody>
                  <a:tcPr anchor="ctr">
                    <a:solidFill>
                      <a:srgbClr val="EBF3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22703C"/>
                          </a:solidFill>
                          <a:latin typeface="Calibri"/>
                        </a:defRPr>
                      </a:pPr>
                      <a:r>
                        <a:t>13.5% faster | 25.2% less VRAM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62626"/>
                          </a:solidFill>
                          <a:latin typeface="Calibri"/>
                        </a:defRPr>
                      </a:pPr>
                      <a:r>
                        <a:t>Cityscapes Latency &amp; VRAM (2K)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62626"/>
                          </a:solidFill>
                          <a:latin typeface="Calibri"/>
                        </a:defRPr>
                      </a:pPr>
                      <a:r>
                        <a:t>245.5 ms | 2,805.2 MB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143250"/>
                          </a:solidFill>
                          <a:latin typeface="Calibri"/>
                        </a:defRPr>
                      </a:pPr>
                      <a:r>
                        <a:t>203.6 ms | 1,925.1 MB</a:t>
                      </a:r>
                    </a:p>
                  </a:txBody>
                  <a:tcPr anchor="ctr">
                    <a:solidFill>
                      <a:srgbClr val="EBF3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22703C"/>
                          </a:solidFill>
                          <a:latin typeface="Calibri"/>
                        </a:defRPr>
                      </a:pPr>
                      <a:r>
                        <a:t>17.1% faster | 880 MB VRAM saved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731520" y="4343400"/>
            <a:ext cx="3429000" cy="1874519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D2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64592"/>
          <a:lstStyle/>
          <a:p>
            <a:pPr algn="ctr">
              <a:defRPr sz="1200" b="1">
                <a:solidFill>
                  <a:srgbClr val="1F4E78"/>
                </a:solidFill>
                <a:latin typeface="Calibri"/>
              </a:defRPr>
            </a:pPr>
            <a:r>
              <a:t>Single Unified Backbone</a:t>
            </a:r>
          </a:p>
          <a:p>
            <a:pPr>
              <a:spcBef>
                <a:spcPts val="600"/>
              </a:spcBef>
              <a:defRPr sz="1000">
                <a:solidFill>
                  <a:srgbClr val="595959"/>
                </a:solidFill>
                <a:latin typeface="Calibri"/>
              </a:defRPr>
            </a:pPr>
            <a:r>
              <a:t>Instead of maintaining 4 distinct neural networks in VRAM (classifier + 3 branches), our architecture relies on a single compact spatial backbone with depth-adaptive gating.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79976" y="4343400"/>
            <a:ext cx="3429000" cy="1874519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D2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64592"/>
          <a:lstStyle/>
          <a:p>
            <a:pPr algn="ctr">
              <a:defRPr sz="1200" b="1">
                <a:solidFill>
                  <a:srgbClr val="1F4E78"/>
                </a:solidFill>
                <a:latin typeface="Calibri"/>
              </a:defRPr>
            </a:pPr>
            <a:r>
              <a:t>Universal Plug-and-Play</a:t>
            </a:r>
          </a:p>
          <a:p>
            <a:pPr>
              <a:spcBef>
                <a:spcPts val="600"/>
              </a:spcBef>
              <a:defRPr sz="1000">
                <a:solidFill>
                  <a:srgbClr val="595959"/>
                </a:solidFill>
                <a:latin typeface="Calibri"/>
              </a:defRPr>
            </a:pPr>
            <a:r>
              <a:t>The downstream YOLO detector is completely frozen and unmodified for all evaluated methods. Both evaluate modular optical pre-processors compatible with any off-the-shelf vision system.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28432" y="4343400"/>
            <a:ext cx="3429000" cy="1874519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D2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64592"/>
          <a:lstStyle/>
          <a:p>
            <a:pPr algn="ctr">
              <a:defRPr sz="1200" b="1">
                <a:solidFill>
                  <a:srgbClr val="1F4E78"/>
                </a:solidFill>
                <a:latin typeface="Calibri"/>
              </a:defRPr>
            </a:pPr>
            <a:r>
              <a:t>Edge &amp; Memory Efficiency</a:t>
            </a:r>
          </a:p>
          <a:p>
            <a:pPr>
              <a:spcBef>
                <a:spcPts val="600"/>
              </a:spcBef>
              <a:defRPr sz="1000">
                <a:solidFill>
                  <a:srgbClr val="595959"/>
                </a:solidFill>
                <a:latin typeface="Calibri"/>
              </a:defRPr>
            </a:pPr>
            <a:r>
              <a:t>Delivers superior restoration and detection accuracy while reducing parameters by 70%, drastically cutting GPU VRAM requirements for embedded and automotive applications.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