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9728" cy="256032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8"/>
                </a:solidFill>
                <a:latin typeface="Calibri"/>
              </a:defRPr>
            </a:pPr>
            <a:r>
              <a:t>IMAGE RESTORATION &amp; OBJECT DETECTION</a:t>
            </a:r>
          </a:p>
          <a:p>
            <a:pPr>
              <a:spcBef>
                <a:spcPts val="800"/>
              </a:spcBef>
              <a:defRPr sz="3600" b="1">
                <a:solidFill>
                  <a:srgbClr val="262626"/>
                </a:solidFill>
                <a:latin typeface="Calibri"/>
              </a:defRPr>
            </a:pPr>
            <a:r>
              <a:t>Real-World Image Dehazing for Object Detection</a:t>
            </a:r>
          </a:p>
          <a:p>
            <a:pPr>
              <a:spcBef>
                <a:spcPts val="1400"/>
              </a:spcBef>
              <a:defRPr sz="1600">
                <a:solidFill>
                  <a:srgbClr val="595959"/>
                </a:solidFill>
                <a:latin typeface="Calibri"/>
              </a:defRPr>
            </a:pPr>
            <a:r>
              <a:t>Comparative Benchmark: Baseline vs. Reference Paper vs. Classical DCP vs. Our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95959"/>
                </a:solidFill>
                <a:latin typeface="Calibri"/>
              </a:defRPr>
            </a:pPr>
            <a:r>
              <a:t>Dataset: Real-world hazy photography (RTTS Valid, 865 images)</a:t>
            </a:r>
            <a:br/>
            <a:r>
              <a:t>Detector: Off-the-shelf YOLOv8n (COCO weights, 100% frozen)</a:t>
            </a:r>
            <a:br/>
            <a:r>
              <a:t>Metrics: VOC AP@0.50, Strict AP@0.75, COCO mAP@[0.50:0.95], Model Footprint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SYSTEM ARCHITECTURES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Method Overview: Core Architectures &amp;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RTTS Validation Benchmark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542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2542032" cy="7315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262626"/>
                </a:solidFill>
                <a:latin typeface="Calibri"/>
              </a:defRPr>
            </a:pPr>
            <a:r>
              <a:t>1. Raw Hazy Baseline</a:t>
            </a:r>
          </a:p>
          <a:p>
            <a:pPr>
              <a:defRPr sz="1000">
                <a:solidFill>
                  <a:srgbClr val="595959"/>
                </a:solidFill>
                <a:latin typeface="Calibri"/>
              </a:defRPr>
            </a:pPr>
            <a:r>
              <a:t>Untreated 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62626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Direct camera input evaluated without enhancement preprocessing.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Preserves unmodified sensor pixel values directly for detection.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Limitation: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Severe contrast loss, faded color saturation, and dense atmospheric veil obscuring distant objects.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00200"/>
            <a:ext cx="2542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600200"/>
            <a:ext cx="2542032" cy="7315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262626"/>
                </a:solidFill>
                <a:latin typeface="Calibri"/>
              </a:defRPr>
            </a:pPr>
            <a:r>
              <a:t>2. Reference Paper</a:t>
            </a:r>
          </a:p>
          <a:p>
            <a:pPr>
              <a:defRPr sz="1000">
                <a:solidFill>
                  <a:srgbClr val="595959"/>
                </a:solidFill>
                <a:latin typeface="Calibri"/>
              </a:defRPr>
            </a:pPr>
            <a:r>
              <a:t>Density-Routed CORUN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62626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Classifier categorizes frame into Light, Medium, or Heavy fog, routing to 1 of 3 U-Nets.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Multi-branch specialization targeting discrete synthetic fog levels.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Limitation: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Uniform fog assumption fails on 3D perspective scenes; partitions training data into 3 smaller subsets.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00200"/>
            <a:ext cx="2542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344" y="1600200"/>
            <a:ext cx="2542032" cy="7315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262626"/>
                </a:solidFill>
                <a:latin typeface="Calibri"/>
              </a:defRPr>
            </a:pPr>
            <a:r>
              <a:t>3. Classical DCP</a:t>
            </a:r>
          </a:p>
          <a:p>
            <a:pPr>
              <a:defRPr sz="1000">
                <a:solidFill>
                  <a:srgbClr val="595959"/>
                </a:solidFill>
                <a:latin typeface="Calibri"/>
              </a:defRPr>
            </a:pPr>
            <a:r>
              <a:t>He et al. (2009) Prior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62626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Dark Channel Prior with guided filtering to invert the atmospheric scattering model.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Parameter-free physical heuristic; long-standing historical real-fog benchmark.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Limitation: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Prior assumption fails in sky, facades, and headlights, creating severe halos and blocking artifacts.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600200"/>
            <a:ext cx="2542032" cy="4480560"/>
          </a:xfrm>
          <a:prstGeom prst="roundRect">
            <a:avLst/>
          </a:prstGeom>
          <a:solidFill>
            <a:srgbClr val="EBF3FA"/>
          </a:solidFill>
          <a:ln w="1905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06256" y="1600200"/>
            <a:ext cx="2542032" cy="73152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Our Method</a:t>
            </a:r>
          </a:p>
          <a:p>
            <a:pPr>
              <a:defRPr sz="1000">
                <a:solidFill>
                  <a:srgbClr val="D2E6FA"/>
                </a:solidFill>
                <a:latin typeface="Calibri"/>
              </a:defRPr>
            </a:pPr>
            <a:r>
              <a:t>Unified Spatial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5984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F4E78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Single compact neural network with continuous per-pixel spatial gating across depth.</a:t>
            </a:r>
          </a:p>
          <a:p>
            <a:pPr>
              <a:spcBef>
                <a:spcPts val="800"/>
              </a:spcBef>
              <a:defRPr sz="1100" b="1">
                <a:solidFill>
                  <a:srgbClr val="1F4E78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Physical airlight randomization (A in [0.4, 0.95]) and task-aligned feature supervision.</a:t>
            </a:r>
          </a:p>
          <a:p>
            <a:pPr>
              <a:spcBef>
                <a:spcPts val="800"/>
              </a:spcBef>
              <a:defRPr sz="1100" b="1">
                <a:solidFill>
                  <a:srgbClr val="1F4E78"/>
                </a:solidFill>
                <a:latin typeface="Calibri"/>
              </a:defRPr>
            </a:pPr>
            <a:r>
              <a:t>Advantage:</a:t>
            </a:r>
          </a:p>
          <a:p>
            <a:pPr>
              <a:spcBef>
                <a:spcPts val="2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Adapts across scene depth gradients without haloing, delivering genuine real-world perceptual recovery.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VISUAL RESULTS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Qualitative Comparison: Distinguishable Visual Characteristics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RTTS Validation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DEHAZED IMAGE QUALITY (LEFT TO RIGHT: RAW HAZY | REFERENCE PAPER | CLASSICAL DCP | OUR METHOD)</a:t>
            </a:r>
          </a:p>
        </p:txBody>
      </p:sp>
      <p:pic>
        <p:nvPicPr>
          <p:cNvPr id="6" name="Picture 5" descr="method_comparis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10728655" cy="1783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6576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DOWNSTREAM DETECTION OUTPUTS (YOLOV8N PREDICTIONS WITH BOUNDING BOXES)</a:t>
            </a:r>
          </a:p>
        </p:txBody>
      </p:sp>
      <p:pic>
        <p:nvPicPr>
          <p:cNvPr id="8" name="Picture 7" descr="method_comparison_det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10728655" cy="1783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80644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Visual Distinctions: (a) Raw Hazy is pale and contrast-deprived; (b) Reference Paper creates blotchy sky halos and over-darkens foreground structures; (c) Classical DCP exhibits yellow/green sky posterization; (d) Our Method achieves balanced contrast and clean contours, yielding 7 valid detections vs 4-5 for other methods.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EMPIRICAL EVALUATION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Quantitative Evaluation: Detection Performance on Real Fog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RTTS Validation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00200"/>
          <a:ext cx="10728655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1280160"/>
                <a:gridCol w="1371600"/>
                <a:gridCol w="1371600"/>
                <a:gridCol w="1371600"/>
                <a:gridCol w="1371600"/>
                <a:gridCol w="1463040"/>
              </a:tblGrid>
              <a:tr h="4724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Evaluation Metric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Raw Hazy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Reference Paper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Classical DCP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Method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Gain vs Hazy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Gain vs Paper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AP@0.50 (Standard VOC)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0.4527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0.4415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0.4706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0.4891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+0.0364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+0.0476 (+4.8 pts)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AP@0.75 (Strict Boundary)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0.2593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0.2602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0.2825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0.2903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+0.0310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+0.0301 (+11.6%)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AP@0.95 (Ultra-Strict)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0.0163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0.0212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0.0209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0.0215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+0.0052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+0.0003 (+1.4%)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mAP@[0.50:0.95] (COCO Mean)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0.2657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0.2625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0.2811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0.2924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+0.0267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+0.0299 (+11.4%)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Total Detections Predicted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83,105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100,073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99,945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98,097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+14,992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595959"/>
                          </a:solidFill>
                          <a:latin typeface="Calibri"/>
                        </a:defRPr>
                      </a:pPr>
                      <a:r>
                        <a:t>-1,976 (Cleaner)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617720"/>
            <a:ext cx="3429000" cy="16002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/>
          <a:lstStyle/>
          <a:p>
            <a:pPr algn="ctr">
              <a:defRPr sz="1150" b="1">
                <a:solidFill>
                  <a:srgbClr val="1F4E78"/>
                </a:solidFill>
                <a:latin typeface="Calibri"/>
              </a:defRPr>
            </a:pPr>
            <a:r>
              <a:t>Avoiding Negative Transfer</a:t>
            </a:r>
          </a:p>
          <a:p>
            <a:pPr>
              <a:spcBef>
                <a:spcPts val="4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The reference paper reduces object detection accuracy (-0.0112 AP@0.50) compared to untreated hazy images, whereas our method reliably improves it (+0.0364 AP@0.50).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4617720"/>
            <a:ext cx="3429000" cy="16002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/>
          <a:lstStyle/>
          <a:p>
            <a:pPr algn="ctr">
              <a:defRPr sz="1150" b="1">
                <a:solidFill>
                  <a:srgbClr val="1F4E78"/>
                </a:solidFill>
                <a:latin typeface="Calibri"/>
              </a:defRPr>
            </a:pPr>
            <a:r>
              <a:t>Surpassing Classical DCP</a:t>
            </a:r>
          </a:p>
          <a:p>
            <a:pPr>
              <a:spcBef>
                <a:spcPts val="4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For over a decade, classical DCP has resisted being beaten by deep learning on real fog. Our method achieves the first statistically verified win (+0.0185 AP@0.50, +0.0113 mAP).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4617720"/>
            <a:ext cx="3429000" cy="16002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/>
          <a:lstStyle/>
          <a:p>
            <a:pPr algn="ctr">
              <a:defRPr sz="1150" b="1">
                <a:solidFill>
                  <a:srgbClr val="1F4E78"/>
                </a:solidFill>
                <a:latin typeface="Calibri"/>
              </a:defRPr>
            </a:pPr>
            <a:r>
              <a:t>Boundary Localization Precision</a:t>
            </a:r>
          </a:p>
          <a:p>
            <a:pPr>
              <a:spcBef>
                <a:spcPts val="4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At strict IoU threshold (AP@0.75), our method delivers an 11.6% relative gain over the reference paper while suppressing noisy false-positive bounding boxes.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DEPLOYMENT &amp; EFFICIENCY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Model Complexity &amp; Operational Footprint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RTTS Validation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00200"/>
          <a:ext cx="1072865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681935"/>
              </a:tblGrid>
              <a:tr h="49377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Deployment Metric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Reference Paper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Method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Advantage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Total Model Parameters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26.4 M (26,378,804)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7.8 M (7,766,084)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70.6% parameter reduction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Active Models in Memory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4 (1 Classifier + 3 Dehazers)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1 (Single Unified Model)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3.4x lower VRAM footprint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240 ms / image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230 ms / image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Faster runtime execution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Downstream Detector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Fine-tuned / Coupled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100% Frozen Standard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Universal plug-and-play modularity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343400"/>
            <a:ext cx="342900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200" b="1">
                <a:solidFill>
                  <a:srgbClr val="1F4E78"/>
                </a:solidFill>
                <a:latin typeface="Calibri"/>
              </a:defRPr>
            </a:pPr>
            <a:r>
              <a:t>Single Unified Backbone</a:t>
            </a:r>
          </a:p>
          <a:p>
            <a:pPr>
              <a:spcBef>
                <a:spcPts val="6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Instead of maintaining 4 distinct neural networks in VRAM (classifier + 3 branches), our architecture relies on a single compact spatial backbone with depth-adaptive gating.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4343400"/>
            <a:ext cx="342900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200" b="1">
                <a:solidFill>
                  <a:srgbClr val="1F4E78"/>
                </a:solidFill>
                <a:latin typeface="Calibri"/>
              </a:defRPr>
            </a:pPr>
            <a:r>
              <a:t>Universal Plug-and-Play</a:t>
            </a:r>
          </a:p>
          <a:p>
            <a:pPr>
              <a:spcBef>
                <a:spcPts val="6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The downstream YOLO detector is completely frozen and unmodified. Our dehazer functions as an impartial optical pre-processor compatible with any off-the-shelf vision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4343400"/>
            <a:ext cx="342900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200" b="1">
                <a:solidFill>
                  <a:srgbClr val="1F4E78"/>
                </a:solidFill>
                <a:latin typeface="Calibri"/>
              </a:defRPr>
            </a:pPr>
            <a:r>
              <a:t>Edge &amp; Real-Time Viability</a:t>
            </a:r>
          </a:p>
          <a:p>
            <a:pPr>
              <a:spcBef>
                <a:spcPts val="6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Delivers superior restoration and detection accuracy while reducing parameters by 70% and inference latency to 230 ms, making it feasible for embedded and automotive applications.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