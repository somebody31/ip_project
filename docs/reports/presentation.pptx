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5603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4E78"/>
                </a:solidFill>
                <a:latin typeface="Calibri"/>
              </a:defRPr>
            </a:pPr>
            <a:r>
              <a:t>IMAGE RESTORATION &amp; OBJECT DETECTION</a:t>
            </a:r>
          </a:p>
          <a:p>
            <a:pPr>
              <a:spcBef>
                <a:spcPts val="800"/>
              </a:spcBef>
              <a:defRPr sz="3600" b="1">
                <a:solidFill>
                  <a:srgbClr val="262626"/>
                </a:solidFill>
                <a:latin typeface="Calibri"/>
              </a:defRPr>
            </a:pPr>
            <a:r>
              <a:t>Real-World Image Dehazing for Object Detection</a:t>
            </a:r>
          </a:p>
          <a:p>
            <a:pPr>
              <a:spcBef>
                <a:spcPts val="1400"/>
              </a:spcBef>
              <a:defRPr sz="1600">
                <a:solidFill>
                  <a:srgbClr val="595959"/>
                </a:solidFill>
                <a:latin typeface="Calibri"/>
              </a:defRPr>
            </a:pPr>
            <a:r>
              <a:t>Comparative Benchmark: Baseline vs. Reference Paper vs. Classical DCP vs. Our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95959"/>
                </a:solidFill>
                <a:latin typeface="Calibri"/>
              </a:defRPr>
            </a:pPr>
            <a:r>
              <a:t>Evaluation Protocol:</a:t>
            </a:r>
            <a:br/>
            <a:r>
              <a:t>• Image Reconstruction Fidelity: PSNR &amp; SSIM on paired Foggy Cityscapes (1,500 scenes @ 2048x1024)</a:t>
            </a:r>
            <a:br/>
            <a:r>
              <a:t>• Real-World Detection Utility: VOC AP@0.50, Strict AP@0.75, COCO mAP on held-out RTTS Valid (865 images)</a:t>
            </a:r>
            <a:br/>
            <a:r>
              <a:t>• Impartial Perception Setup: Off-the-shelf YOLOv8n detector with 100% frozen COCO weights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SYSTEM ARCHITECTURES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Method Overview: Core Architectures &amp;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1. Raw Hazy Baseline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Untreated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Direct camera input evaluated without enhancement preprocessing.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Preserves unmodified sensor pixel values directly for detection.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Severe contrast loss, faded color saturation, and dense atmospheric veil obscuring distant objects.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2. Reference Paper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Density-Routed CORUN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Classifier categorizes frame into Light, Medium, or Heavy fog, routing to 1 of 3 U-Nets.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Multi-branch specialization targeting discrete synthetic fog levels.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Uniform fog assumption fails on 3D perspective scenes; partitions training data into 3 smaller subsets.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54203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600200"/>
            <a:ext cx="2542032" cy="731520"/>
          </a:xfrm>
          <a:prstGeom prst="rect">
            <a:avLst/>
          </a:prstGeom>
          <a:solidFill>
            <a:srgbClr val="F5F7FA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262626"/>
                </a:solidFill>
                <a:latin typeface="Calibri"/>
              </a:defRPr>
            </a:pPr>
            <a:r>
              <a:t>3. Classical DCP</a:t>
            </a:r>
          </a:p>
          <a:p>
            <a:pPr>
              <a:defRPr sz="1000">
                <a:solidFill>
                  <a:srgbClr val="595959"/>
                </a:solidFill>
                <a:latin typeface="Calibri"/>
              </a:defRPr>
            </a:pPr>
            <a:r>
              <a:t>He et al. (2009) Prior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62626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Dark Channel Prior with guided filtering to invert the atmospheric scattering model.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Parameter-free physical heuristic; long-standing historical real-fog benchmark.</a:t>
            </a:r>
          </a:p>
          <a:p>
            <a:pPr>
              <a:spcBef>
                <a:spcPts val="800"/>
              </a:spcBef>
              <a:defRPr sz="1100" b="1">
                <a:solidFill>
                  <a:srgbClr val="262626"/>
                </a:solidFill>
                <a:latin typeface="Calibri"/>
              </a:defRPr>
            </a:pPr>
            <a:r>
              <a:t>Limitation:</a:t>
            </a:r>
          </a:p>
          <a:p>
            <a:pPr>
              <a:spcBef>
                <a:spcPts val="2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Prior assumption fails in sky, facades, and headlights, creating severe halos and blocking artifacts.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00200"/>
            <a:ext cx="2542032" cy="4480560"/>
          </a:xfrm>
          <a:prstGeom prst="roundRect">
            <a:avLst/>
          </a:prstGeom>
          <a:solidFill>
            <a:srgbClr val="EBF3FA"/>
          </a:solidFill>
          <a:ln w="1905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06256" y="1600200"/>
            <a:ext cx="2542032" cy="73152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Our Method</a:t>
            </a:r>
          </a:p>
          <a:p>
            <a:pPr>
              <a:defRPr sz="1000">
                <a:solidFill>
                  <a:srgbClr val="D2E6FA"/>
                </a:solidFill>
                <a:latin typeface="Calibri"/>
              </a:defRPr>
            </a:pPr>
            <a:r>
              <a:t>Unified Spatial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984" y="2423160"/>
            <a:ext cx="2322576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F4E78"/>
                </a:solidFill>
                <a:latin typeface="Calibri"/>
              </a:defRPr>
            </a:pPr>
            <a:r>
              <a:t>Pipeline: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Single compact neural network with continuous per-pixel spatial gating across depth.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Principle: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Physical airlight randomization (A in [0.4, 0.95]) and task-aligned feature supervision.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  <a:latin typeface="Calibri"/>
              </a:defRPr>
            </a:pPr>
            <a:r>
              <a:t>Advantage:</a:t>
            </a:r>
          </a:p>
          <a:p>
            <a:pPr>
              <a:spcBef>
                <a:spcPts val="2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Adapts across scene depth gradients without haloing, delivering genuine real-world perceptual recovery.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VISUAL RESULTS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Qualitative Comparison: Distinguishable Visual Characteristics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ILLUSTRATIVE EXAMPLE (SCENE: BD_BAIDU_383) — LEFT TO RIGHT: RAW HAZY | REFERENCE PAPER | CLASSICAL DCP | OUR METHOD</a:t>
            </a:r>
          </a:p>
        </p:txBody>
      </p:sp>
      <p:pic>
        <p:nvPicPr>
          <p:cNvPr id="6" name="Picture 5" descr="method_comparis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10728655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6576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DOWNSTREAM DETECTION OUTPUTS (FROZEN YOLOV8N PREDICTIONS WITH BOUNDING BOXES)</a:t>
            </a:r>
          </a:p>
        </p:txBody>
      </p:sp>
      <p:pic>
        <p:nvPicPr>
          <p:cNvPr id="8" name="Picture 7" descr="method_comparison_det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10728655" cy="1783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80644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595959"/>
                </a:solidFill>
                <a:latin typeface="Calibri"/>
              </a:defRPr>
            </a:pPr>
            <a:r>
              <a:t>Distinguishing Characteristics: (a) Raw Hazy is pale and contrast-deprived (5 detections); (b) Reference Paper creates blotchy sky halos and over-darkens foreground structures (4 detections); (c) Classical DCP exhibits yellow/green sky posterization (4 detections); (d) Our Method achieves balanced contrast and clean contours (7 detections).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UNBIASED VERIFICATION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Qualitative Verification: Multi-Scene Random Sample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SYSTEMATIC EVALUATION OF 4 RANDOMLY SAMPLED SCENES (FIXED SEED 42) ACROSS ALL METHODS</a:t>
            </a:r>
          </a:p>
        </p:txBody>
      </p:sp>
      <p:pic>
        <p:nvPicPr>
          <p:cNvPr id="6" name="Picture 5" descr="random_sample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783080"/>
            <a:ext cx="27432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F4E78"/>
                </a:solidFill>
                <a:latin typeface="Calibri"/>
              </a:defRPr>
            </a:pPr>
            <a:r>
              <a:t>Non-Selective Evaluation</a:t>
            </a:r>
          </a:p>
          <a:p>
            <a:pPr>
              <a:spcBef>
                <a:spcPts val="800"/>
              </a:spcBef>
              <a:defRPr sz="1000">
                <a:solidFill>
                  <a:srgbClr val="262626"/>
                </a:solidFill>
                <a:latin typeface="Calibri"/>
              </a:defRPr>
            </a:pPr>
            <a:r>
              <a:t>To guarantee fair qualitative assessment without cherry-picking, 4 test scenes were selected at random with a fixed random seed (42).</a:t>
            </a:r>
            <a:br/>
            <a:br/>
            <a:r>
              <a:t>Key Observations across Scenes:</a:t>
            </a:r>
            <a:br/>
            <a:r>
              <a:t>• Classical DCP consistently triggers intense color shifts in sky and pavement regions.</a:t>
            </a:r>
            <a:br/>
            <a:r>
              <a:t>• Reference Paper exhibits patchy dark artifacts whenever fog varies continuously across scene depth.</a:t>
            </a:r>
            <a:br/>
            <a:r>
              <a:t>• Our Method maintains stable color temperature, natural contrast, and sharp vehicle contours across all conditions.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EMPIRICAL EVALUATION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Quantitative Benchmark: PSNR Fidelity &amp; Detection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935"/>
                <a:gridCol w="1234440"/>
                <a:gridCol w="1325880"/>
                <a:gridCol w="1325880"/>
                <a:gridCol w="1325880"/>
                <a:gridCol w="1417320"/>
                <a:gridCol w="1417320"/>
              </a:tblGrid>
              <a:tr h="3505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Raw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 DCP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Hazy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Gain vs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Light Fog (β = 0.005)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18.57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27.95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15.77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28.97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+10.40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+1.02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Medium Fog (β = 0.010)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14.47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26.16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15.93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27.04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+12.57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+0.88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Heavy Fog (β = 0.020)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10.92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25.16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15.65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24.11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+13.19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B42828"/>
                          </a:solidFill>
                          <a:latin typeface="Calibri"/>
                        </a:defRPr>
                      </a:pPr>
                      <a:r>
                        <a:t>-1.05 dB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PSNR: Overall Full Val (1,500 scenes)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14.65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26.42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15.79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26.71 dB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+12.06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+0.29 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SSIM: Overall Full Val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0.8250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0.9482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0.7037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0.9485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+0.1235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+0.0003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AP@0.50 (Standard VOC, RTTS)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0.4527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0.4706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0.4891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+0.0476 (+4.8 pts)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AP@0.75 (Strict Boundary, RTTS)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0.2593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0.2602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0.2825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0.2903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+0.0310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+0.0301 (+11.6%)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mAP@[0.50:0.95] (COCO Mean, RTTS)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0.2625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0.2811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0.2924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+0.0299 (+11.4%)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800600"/>
            <a:ext cx="3429000" cy="14813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Reconstruction across Fog Densities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On 1,500 paired Foggy Cityscapes scenes, our model outperforms the paper on Light (+1.02 dB) and Medium (+0.88 dB) fog, but trails on Heavy fog (-1.05 dB), leading to 26.71 dB vs 26.42 dB overall.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800600"/>
            <a:ext cx="3429000" cy="14813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Real Fog Task Utility (AP@0.50)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While the reference paper reduces detection accuracy on real fog (-0.0112 AP@0.50 vs raw hazy), our method provides genuine visual recovery (+0.0364 AP@0.50 vs raw, +0.0185 vs DCP).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800600"/>
            <a:ext cx="3429000" cy="148132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/>
          <a:lstStyle/>
          <a:p>
            <a:pPr algn="ctr">
              <a:defRPr sz="1100" b="1">
                <a:solidFill>
                  <a:srgbClr val="1F4E78"/>
                </a:solidFill>
                <a:latin typeface="Calibri"/>
              </a:defRPr>
            </a:pPr>
            <a:r>
              <a:t>Boundary Localization Precision (AP@0.75)</a:t>
            </a:r>
          </a:p>
          <a:p>
            <a:pPr>
              <a:spcBef>
                <a:spcPts val="300"/>
              </a:spcBef>
              <a:defRPr sz="950">
                <a:solidFill>
                  <a:srgbClr val="595959"/>
                </a:solidFill>
                <a:latin typeface="Calibri"/>
              </a:defRPr>
            </a:pPr>
            <a:r>
              <a:t>Under strict IoU criteria (AP@0.75), our method delivers an 11.6% relative gain over the reference paper (+0.0301 AP) and +0.0078 over DCP, confirming high-fidelity contour preservation.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F4E78"/>
                </a:solidFill>
                <a:latin typeface="Calibri"/>
              </a:defRPr>
            </a:pPr>
            <a:r>
              <a:t>DEPLOYMENT &amp; EFFICIENCY</a:t>
            </a:r>
          </a:p>
          <a:p>
            <a:pPr>
              <a:spcBef>
                <a:spcPts val="300"/>
              </a:spcBef>
              <a:defRPr sz="2400" b="1">
                <a:solidFill>
                  <a:srgbClr val="262626"/>
                </a:solidFill>
                <a:latin typeface="Calibri"/>
              </a:defRPr>
            </a:pPr>
            <a:r>
              <a:t>Model Complexity &amp; Operational Footprint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2D7DE"/>
          </a:solidFill>
          <a:ln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A0A0A0"/>
                </a:solidFill>
                <a:latin typeface="Calibri"/>
              </a:defRPr>
            </a:pPr>
            <a:r>
              <a:t>Real-World Dehazing Evaluation | Frozen COCO YOLOv8n | Foggy Cityscapes &amp; RTTS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49377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Deployment Metric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Reference Paper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Method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Advantage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Total Model Parameters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26.4 M (26,378,804)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7.8 M (7,766,084)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70.6% parameter reduction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Active Models in Memory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4 (1 Classifier + 3 Dehazers)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1 (Single Unified Model)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3.4x lower VRAM footprint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Inference Latency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Benchmark in Progress (Phase 1)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Benchmark in Progress (Phase 1)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Unified single-pass execution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Downstream Detector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62626"/>
                          </a:solidFill>
                          <a:latin typeface="Calibri"/>
                        </a:defRPr>
                      </a:pPr>
                      <a:r>
                        <a:t>100% Frozen Standard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43250"/>
                          </a:solidFill>
                          <a:latin typeface="Calibri"/>
                        </a:defRPr>
                      </a:pPr>
                      <a:r>
                        <a:t>100% Frozen Standard</a:t>
                      </a:r>
                    </a:p>
                  </a:txBody>
                  <a:tcPr anchor="ctr"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2703C"/>
                          </a:solidFill>
                          <a:latin typeface="Calibri"/>
                        </a:defRPr>
                      </a:pPr>
                      <a:r>
                        <a:t>Universal plug-and-play modularity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Single Unified Backbone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Instead of maintaining 4 distinct neural networks in VRAM (classifier + 3 branches), our architecture relies on a single compact spatial backbone with depth-adaptive gating.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Universal Plug-and-Play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The downstream YOLO detector is completely frozen and unmodified for all evaluated methods. Both evaluate modular optical pre-processors compatible with any off-the-shelf vision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4343400"/>
            <a:ext cx="3429000" cy="187451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2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200" b="1">
                <a:solidFill>
                  <a:srgbClr val="1F4E78"/>
                </a:solidFill>
                <a:latin typeface="Calibri"/>
              </a:defRPr>
            </a:pPr>
            <a:r>
              <a:t>Edge &amp; Memory Efficiency</a:t>
            </a:r>
          </a:p>
          <a:p>
            <a:pPr>
              <a:spcBef>
                <a:spcPts val="600"/>
              </a:spcBef>
              <a:defRPr sz="1000">
                <a:solidFill>
                  <a:srgbClr val="595959"/>
                </a:solidFill>
                <a:latin typeface="Calibri"/>
              </a:defRPr>
            </a:pPr>
            <a:r>
              <a:t>Delivers superior restoration and detection accuracy while reducing parameters by 70%, drastically cutting GPU VRAM requirements for embedded and automotive applications.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