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731520" y="2011680"/>
            <a:ext cx="109728" cy="2560320"/>
          </a:xfrm>
          <a:prstGeom prst="rect">
            <a:avLst/>
          </a:prstGeom>
          <a:solidFill>
            <a:srgbClr val="1F4E78"/>
          </a:solidFill>
          <a:ln>
            <a:solidFill>
              <a:srgbClr val="1F4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828800"/>
            <a:ext cx="10058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F4E78"/>
                </a:solidFill>
                <a:latin typeface="Calibri"/>
              </a:defRPr>
            </a:pPr>
            <a:r>
              <a:t>IMAGE RESTORATION &amp; OBJECT DETECTION</a:t>
            </a:r>
          </a:p>
          <a:p>
            <a:pPr>
              <a:spcBef>
                <a:spcPts val="800"/>
              </a:spcBef>
              <a:defRPr sz="3600" b="1">
                <a:solidFill>
                  <a:srgbClr val="262626"/>
                </a:solidFill>
                <a:latin typeface="Calibri"/>
              </a:defRPr>
            </a:pPr>
            <a:r>
              <a:t>Real-World Image Dehazing for Object Detection</a:t>
            </a:r>
          </a:p>
          <a:p>
            <a:pPr>
              <a:spcBef>
                <a:spcPts val="1400"/>
              </a:spcBef>
              <a:defRPr sz="1600">
                <a:solidFill>
                  <a:srgbClr val="595959"/>
                </a:solidFill>
                <a:latin typeface="Calibri"/>
              </a:defRPr>
            </a:pPr>
            <a:r>
              <a:t>Comparative Benchmark: Baseline vs. Reference Paper vs. Classical DCP vs. Our Method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12064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595959"/>
                </a:solidFill>
                <a:latin typeface="Calibri"/>
              </a:defRPr>
            </a:pPr>
            <a:r>
              <a:t>Evaluation Protocol:</a:t>
            </a:r>
            <a:br/>
            <a:r>
              <a:t>• Image Reconstruction Fidelity: PSNR &amp; SSIM on paired Foggy Cityscapes (1,500 scenes @ 2048x1024)</a:t>
            </a:r>
            <a:br/>
            <a:r>
              <a:t>• Real-World Detection Utility: VOC AP@0.50, Strict AP@0.75, COCO mAP on held-out RTTS Valid (865 images)</a:t>
            </a:r>
            <a:br/>
            <a:r>
              <a:t>• Impartial Perception Setup: Off-the-shelf YOLOv8n detector with 100% frozen COCO weights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F4E78"/>
                </a:solidFill>
                <a:latin typeface="Calibri"/>
              </a:defRPr>
            </a:pPr>
            <a:r>
              <a:t>SYSTEM ARCHITECTURES</a:t>
            </a:r>
          </a:p>
          <a:p>
            <a:pPr>
              <a:spcBef>
                <a:spcPts val="300"/>
              </a:spcBef>
              <a:defRPr sz="2400" b="1">
                <a:solidFill>
                  <a:srgbClr val="262626"/>
                </a:solidFill>
                <a:latin typeface="Calibri"/>
              </a:defRPr>
            </a:pPr>
            <a:r>
              <a:t>Method Overview: Core Architectures &amp; Principles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2D7DE"/>
          </a:solidFill>
          <a:ln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A0A0A0"/>
                </a:solidFill>
                <a:latin typeface="Calibri"/>
              </a:defRPr>
            </a:pPr>
            <a:r>
              <a:t>Real-World Dehazing Evaluation | Frozen COCO YOLOv8n | Foggy Cityscapes &amp; RTTS Benchmark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2542032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00200"/>
            <a:ext cx="2542032" cy="731520"/>
          </a:xfrm>
          <a:prstGeom prst="rect">
            <a:avLst/>
          </a:prstGeom>
          <a:solidFill>
            <a:srgbClr val="F5F7FA"/>
          </a:solidFill>
          <a:ln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defRPr sz="1300" b="1">
                <a:solidFill>
                  <a:srgbClr val="262626"/>
                </a:solidFill>
                <a:latin typeface="Calibri"/>
              </a:defRPr>
            </a:pPr>
            <a:r>
              <a:t>1. Raw Hazy Baseline</a:t>
            </a:r>
          </a:p>
          <a:p>
            <a:pPr>
              <a:defRPr sz="1000">
                <a:solidFill>
                  <a:srgbClr val="595959"/>
                </a:solidFill>
                <a:latin typeface="Calibri"/>
              </a:defRPr>
            </a:pPr>
            <a:r>
              <a:t>Untreated Capture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423160"/>
            <a:ext cx="2322576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62626"/>
                </a:solidFill>
                <a:latin typeface="Calibri"/>
              </a:defRPr>
            </a:pPr>
            <a:r>
              <a:t>Pipeline:</a:t>
            </a:r>
          </a:p>
          <a:p>
            <a:pPr>
              <a:spcBef>
                <a:spcPts val="200"/>
              </a:spcBef>
              <a:defRPr sz="1000">
                <a:solidFill>
                  <a:srgbClr val="595959"/>
                </a:solidFill>
                <a:latin typeface="Calibri"/>
              </a:defRPr>
            </a:pPr>
            <a:r>
              <a:t>Direct camera input evaluated without enhancement preprocessing.</a:t>
            </a:r>
          </a:p>
          <a:p>
            <a:pPr>
              <a:spcBef>
                <a:spcPts val="800"/>
              </a:spcBef>
              <a:defRPr sz="1100" b="1">
                <a:solidFill>
                  <a:srgbClr val="262626"/>
                </a:solidFill>
                <a:latin typeface="Calibri"/>
              </a:defRPr>
            </a:pPr>
            <a:r>
              <a:t>Principle:</a:t>
            </a:r>
          </a:p>
          <a:p>
            <a:pPr>
              <a:spcBef>
                <a:spcPts val="200"/>
              </a:spcBef>
              <a:defRPr sz="1000">
                <a:solidFill>
                  <a:srgbClr val="595959"/>
                </a:solidFill>
                <a:latin typeface="Calibri"/>
              </a:defRPr>
            </a:pPr>
            <a:r>
              <a:t>Preserves unmodified sensor pixel values directly for detection.</a:t>
            </a:r>
          </a:p>
          <a:p>
            <a:pPr>
              <a:spcBef>
                <a:spcPts val="800"/>
              </a:spcBef>
              <a:defRPr sz="1100" b="1">
                <a:solidFill>
                  <a:srgbClr val="262626"/>
                </a:solidFill>
                <a:latin typeface="Calibri"/>
              </a:defRPr>
            </a:pPr>
            <a:r>
              <a:t>Limitation:</a:t>
            </a:r>
          </a:p>
          <a:p>
            <a:pPr>
              <a:spcBef>
                <a:spcPts val="200"/>
              </a:spcBef>
              <a:defRPr sz="1000">
                <a:solidFill>
                  <a:srgbClr val="595959"/>
                </a:solidFill>
                <a:latin typeface="Calibri"/>
              </a:defRPr>
            </a:pPr>
            <a:r>
              <a:t>Severe contrast loss, faded color saturation, and dense atmospheric veil obscuring distant objects.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6432" y="1600200"/>
            <a:ext cx="2542032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56432" y="1600200"/>
            <a:ext cx="2542032" cy="731520"/>
          </a:xfrm>
          <a:prstGeom prst="rect">
            <a:avLst/>
          </a:prstGeom>
          <a:solidFill>
            <a:srgbClr val="F5F7FA"/>
          </a:solidFill>
          <a:ln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defRPr sz="1300" b="1">
                <a:solidFill>
                  <a:srgbClr val="262626"/>
                </a:solidFill>
                <a:latin typeface="Calibri"/>
              </a:defRPr>
            </a:pPr>
            <a:r>
              <a:t>2. Reference Paper</a:t>
            </a:r>
          </a:p>
          <a:p>
            <a:pPr>
              <a:defRPr sz="1000">
                <a:solidFill>
                  <a:srgbClr val="595959"/>
                </a:solidFill>
                <a:latin typeface="Calibri"/>
              </a:defRPr>
            </a:pPr>
            <a:r>
              <a:t>Density-Routed CORUN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423160"/>
            <a:ext cx="2322576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62626"/>
                </a:solidFill>
                <a:latin typeface="Calibri"/>
              </a:defRPr>
            </a:pPr>
            <a:r>
              <a:t>Pipeline:</a:t>
            </a:r>
          </a:p>
          <a:p>
            <a:pPr>
              <a:spcBef>
                <a:spcPts val="200"/>
              </a:spcBef>
              <a:defRPr sz="1000">
                <a:solidFill>
                  <a:srgbClr val="595959"/>
                </a:solidFill>
                <a:latin typeface="Calibri"/>
              </a:defRPr>
            </a:pPr>
            <a:r>
              <a:t>Classifier categorizes frame into Light, Medium, or Heavy fog, routing to 1 of 3 U-Nets.</a:t>
            </a:r>
          </a:p>
          <a:p>
            <a:pPr>
              <a:spcBef>
                <a:spcPts val="800"/>
              </a:spcBef>
              <a:defRPr sz="1100" b="1">
                <a:solidFill>
                  <a:srgbClr val="262626"/>
                </a:solidFill>
                <a:latin typeface="Calibri"/>
              </a:defRPr>
            </a:pPr>
            <a:r>
              <a:t>Principle:</a:t>
            </a:r>
          </a:p>
          <a:p>
            <a:pPr>
              <a:spcBef>
                <a:spcPts val="200"/>
              </a:spcBef>
              <a:defRPr sz="1000">
                <a:solidFill>
                  <a:srgbClr val="595959"/>
                </a:solidFill>
                <a:latin typeface="Calibri"/>
              </a:defRPr>
            </a:pPr>
            <a:r>
              <a:t>Multi-branch specialization targeting discrete synthetic fog levels.</a:t>
            </a:r>
          </a:p>
          <a:p>
            <a:pPr>
              <a:spcBef>
                <a:spcPts val="800"/>
              </a:spcBef>
              <a:defRPr sz="1100" b="1">
                <a:solidFill>
                  <a:srgbClr val="262626"/>
                </a:solidFill>
                <a:latin typeface="Calibri"/>
              </a:defRPr>
            </a:pPr>
            <a:r>
              <a:t>Limitation:</a:t>
            </a:r>
          </a:p>
          <a:p>
            <a:pPr>
              <a:spcBef>
                <a:spcPts val="200"/>
              </a:spcBef>
              <a:defRPr sz="1000">
                <a:solidFill>
                  <a:srgbClr val="595959"/>
                </a:solidFill>
                <a:latin typeface="Calibri"/>
              </a:defRPr>
            </a:pPr>
            <a:r>
              <a:t>Uniform fog assumption fails on 3D perspective scenes; partitions training data into 3 smaller subsets.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344" y="1600200"/>
            <a:ext cx="2542032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81344" y="1600200"/>
            <a:ext cx="2542032" cy="731520"/>
          </a:xfrm>
          <a:prstGeom prst="rect">
            <a:avLst/>
          </a:prstGeom>
          <a:solidFill>
            <a:srgbClr val="F5F7FA"/>
          </a:solidFill>
          <a:ln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defRPr sz="1300" b="1">
                <a:solidFill>
                  <a:srgbClr val="262626"/>
                </a:solidFill>
                <a:latin typeface="Calibri"/>
              </a:defRPr>
            </a:pPr>
            <a:r>
              <a:t>3. Classical DCP</a:t>
            </a:r>
          </a:p>
          <a:p>
            <a:pPr>
              <a:defRPr sz="1000">
                <a:solidFill>
                  <a:srgbClr val="595959"/>
                </a:solidFill>
                <a:latin typeface="Calibri"/>
              </a:defRPr>
            </a:pPr>
            <a:r>
              <a:t>He et al. (2009) Prior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91072" y="2423160"/>
            <a:ext cx="2322576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62626"/>
                </a:solidFill>
                <a:latin typeface="Calibri"/>
              </a:defRPr>
            </a:pPr>
            <a:r>
              <a:t>Pipeline:</a:t>
            </a:r>
          </a:p>
          <a:p>
            <a:pPr>
              <a:spcBef>
                <a:spcPts val="200"/>
              </a:spcBef>
              <a:defRPr sz="1000">
                <a:solidFill>
                  <a:srgbClr val="595959"/>
                </a:solidFill>
                <a:latin typeface="Calibri"/>
              </a:defRPr>
            </a:pPr>
            <a:r>
              <a:t>Dark Channel Prior with guided filtering to invert the atmospheric scattering model.</a:t>
            </a:r>
          </a:p>
          <a:p>
            <a:pPr>
              <a:spcBef>
                <a:spcPts val="800"/>
              </a:spcBef>
              <a:defRPr sz="1100" b="1">
                <a:solidFill>
                  <a:srgbClr val="262626"/>
                </a:solidFill>
                <a:latin typeface="Calibri"/>
              </a:defRPr>
            </a:pPr>
            <a:r>
              <a:t>Principle:</a:t>
            </a:r>
          </a:p>
          <a:p>
            <a:pPr>
              <a:spcBef>
                <a:spcPts val="200"/>
              </a:spcBef>
              <a:defRPr sz="1000">
                <a:solidFill>
                  <a:srgbClr val="595959"/>
                </a:solidFill>
                <a:latin typeface="Calibri"/>
              </a:defRPr>
            </a:pPr>
            <a:r>
              <a:t>Parameter-free physical heuristic; long-standing historical real-fog benchmark.</a:t>
            </a:r>
          </a:p>
          <a:p>
            <a:pPr>
              <a:spcBef>
                <a:spcPts val="800"/>
              </a:spcBef>
              <a:defRPr sz="1100" b="1">
                <a:solidFill>
                  <a:srgbClr val="262626"/>
                </a:solidFill>
                <a:latin typeface="Calibri"/>
              </a:defRPr>
            </a:pPr>
            <a:r>
              <a:t>Limitation:</a:t>
            </a:r>
          </a:p>
          <a:p>
            <a:pPr>
              <a:spcBef>
                <a:spcPts val="200"/>
              </a:spcBef>
              <a:defRPr sz="1000">
                <a:solidFill>
                  <a:srgbClr val="595959"/>
                </a:solidFill>
                <a:latin typeface="Calibri"/>
              </a:defRPr>
            </a:pPr>
            <a:r>
              <a:t>Prior assumption fails in sky, facades, and headlights, creating severe halos and blocking artifacts.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06256" y="1600200"/>
            <a:ext cx="2542032" cy="4480560"/>
          </a:xfrm>
          <a:prstGeom prst="roundRect">
            <a:avLst/>
          </a:prstGeom>
          <a:solidFill>
            <a:srgbClr val="EBF3FA"/>
          </a:solidFill>
          <a:ln w="19050">
            <a:solidFill>
              <a:srgbClr val="1F4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906256" y="1600200"/>
            <a:ext cx="2542032" cy="731520"/>
          </a:xfrm>
          <a:prstGeom prst="rect">
            <a:avLst/>
          </a:prstGeom>
          <a:solidFill>
            <a:srgbClr val="1F4E78"/>
          </a:solidFill>
          <a:ln>
            <a:solidFill>
              <a:srgbClr val="1F4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4. Our Method</a:t>
            </a:r>
          </a:p>
          <a:p>
            <a:pPr>
              <a:defRPr sz="1000">
                <a:solidFill>
                  <a:srgbClr val="D2E6FA"/>
                </a:solidFill>
                <a:latin typeface="Calibri"/>
              </a:defRPr>
            </a:pPr>
            <a:r>
              <a:t>Unified Spatial Network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15984" y="2423160"/>
            <a:ext cx="2322576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F4E78"/>
                </a:solidFill>
                <a:latin typeface="Calibri"/>
              </a:defRPr>
            </a:pPr>
            <a:r>
              <a:t>Pipeline:</a:t>
            </a:r>
          </a:p>
          <a:p>
            <a:pPr>
              <a:spcBef>
                <a:spcPts val="200"/>
              </a:spcBef>
              <a:defRPr sz="1000">
                <a:solidFill>
                  <a:srgbClr val="262626"/>
                </a:solidFill>
                <a:latin typeface="Calibri"/>
              </a:defRPr>
            </a:pPr>
            <a:r>
              <a:t>Single compact neural network with continuous per-pixel spatial gating across depth.</a:t>
            </a:r>
          </a:p>
          <a:p>
            <a:pPr>
              <a:spcBef>
                <a:spcPts val="800"/>
              </a:spcBef>
              <a:defRPr sz="1100" b="1">
                <a:solidFill>
                  <a:srgbClr val="1F4E78"/>
                </a:solidFill>
                <a:latin typeface="Calibri"/>
              </a:defRPr>
            </a:pPr>
            <a:r>
              <a:t>Principle:</a:t>
            </a:r>
          </a:p>
          <a:p>
            <a:pPr>
              <a:spcBef>
                <a:spcPts val="200"/>
              </a:spcBef>
              <a:defRPr sz="1000">
                <a:solidFill>
                  <a:srgbClr val="262626"/>
                </a:solidFill>
                <a:latin typeface="Calibri"/>
              </a:defRPr>
            </a:pPr>
            <a:r>
              <a:t>Physical airlight randomization (A in [0.4, 0.95]) and task-aligned feature supervision.</a:t>
            </a:r>
          </a:p>
          <a:p>
            <a:pPr>
              <a:spcBef>
                <a:spcPts val="800"/>
              </a:spcBef>
              <a:defRPr sz="1100" b="1">
                <a:solidFill>
                  <a:srgbClr val="1F4E78"/>
                </a:solidFill>
                <a:latin typeface="Calibri"/>
              </a:defRPr>
            </a:pPr>
            <a:r>
              <a:t>Advantage:</a:t>
            </a:r>
          </a:p>
          <a:p>
            <a:pPr>
              <a:spcBef>
                <a:spcPts val="200"/>
              </a:spcBef>
              <a:defRPr sz="1000">
                <a:solidFill>
                  <a:srgbClr val="262626"/>
                </a:solidFill>
                <a:latin typeface="Calibri"/>
              </a:defRPr>
            </a:pPr>
            <a:r>
              <a:t>Adapts across scene depth gradients without haloing, delivering genuine real-world perceptual recovery.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F4E78"/>
                </a:solidFill>
                <a:latin typeface="Calibri"/>
              </a:defRPr>
            </a:pPr>
            <a:r>
              <a:t>VISUAL RESULTS</a:t>
            </a:r>
          </a:p>
          <a:p>
            <a:pPr>
              <a:spcBef>
                <a:spcPts val="300"/>
              </a:spcBef>
              <a:defRPr sz="2400" b="1">
                <a:solidFill>
                  <a:srgbClr val="262626"/>
                </a:solidFill>
                <a:latin typeface="Calibri"/>
              </a:defRPr>
            </a:pPr>
            <a:r>
              <a:t>Qualitative Comparison: Distinguishable Visual Characteristics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2D7DE"/>
          </a:solidFill>
          <a:ln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A0A0A0"/>
                </a:solidFill>
                <a:latin typeface="Calibri"/>
              </a:defRPr>
            </a:pPr>
            <a:r>
              <a:t>Real-World Dehazing Evaluation | Frozen COCO YOLOv8n | Foggy Cityscapes &amp; RTTS Benchmark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1F4E78"/>
                </a:solidFill>
                <a:latin typeface="Calibri"/>
              </a:defRPr>
            </a:pPr>
            <a:r>
              <a:t>DEHAZED IMAGE QUALITY (LEFT TO RIGHT: RAW HAZY | REFERENCE PAPER | CLASSICAL DCP | OUR METHOD)</a:t>
            </a:r>
          </a:p>
        </p:txBody>
      </p:sp>
      <p:pic>
        <p:nvPicPr>
          <p:cNvPr id="6" name="Picture 5" descr="method_comparison_vis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83080"/>
            <a:ext cx="10728655" cy="1783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365760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1F4E78"/>
                </a:solidFill>
                <a:latin typeface="Calibri"/>
              </a:defRPr>
            </a:pPr>
            <a:r>
              <a:t>DOWNSTREAM DETECTION OUTPUTS (YOLOV8N PREDICTIONS WITH BOUNDING BOXES)</a:t>
            </a:r>
          </a:p>
        </p:txBody>
      </p:sp>
      <p:pic>
        <p:nvPicPr>
          <p:cNvPr id="8" name="Picture 7" descr="method_comparison_dete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931920"/>
            <a:ext cx="10728655" cy="17830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5806440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595959"/>
                </a:solidFill>
                <a:latin typeface="Calibri"/>
              </a:defRPr>
            </a:pPr>
            <a:r>
              <a:t>Visual Distinctions: (a) Raw Hazy is pale and contrast-deprived; (b) Reference Paper creates blotchy sky halos and over-darkens foreground structures; (c) Classical DCP exhibits yellow/green sky posterization; (d) Our Method achieves balanced contrast and clean contours, yielding 7 valid detections vs 4-5 for other methods.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F4E78"/>
                </a:solidFill>
                <a:latin typeface="Calibri"/>
              </a:defRPr>
            </a:pPr>
            <a:r>
              <a:t>EMPIRICAL EVALUATION</a:t>
            </a:r>
          </a:p>
          <a:p>
            <a:pPr>
              <a:spcBef>
                <a:spcPts val="300"/>
              </a:spcBef>
              <a:defRPr sz="2400" b="1">
                <a:solidFill>
                  <a:srgbClr val="262626"/>
                </a:solidFill>
                <a:latin typeface="Calibri"/>
              </a:defRPr>
            </a:pPr>
            <a:r>
              <a:t>Quantitative Benchmark: PSNR Fidelity &amp; Detection Performance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2D7DE"/>
          </a:solidFill>
          <a:ln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A0A0A0"/>
                </a:solidFill>
                <a:latin typeface="Calibri"/>
              </a:defRPr>
            </a:pPr>
            <a:r>
              <a:t>Real-World Dehazing Evaluation | Frozen COCO YOLOv8n | Foggy Cityscapes &amp; RTTS Benchmark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572768"/>
          <a:ext cx="10728655" cy="306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1935"/>
                <a:gridCol w="1234440"/>
                <a:gridCol w="1325880"/>
                <a:gridCol w="1325880"/>
                <a:gridCol w="1325880"/>
                <a:gridCol w="1417320"/>
                <a:gridCol w="1417320"/>
              </a:tblGrid>
              <a:tr h="382905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Evaluation Metric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Raw Hazy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Reference Paper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Classical DCP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Our Method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Gain vs Hazy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Gain vs Paper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</a:tr>
              <a:tr h="382905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PSNR (In-Domain Full Val, dB)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14.65 dB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26.42 dB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15.79 dB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43250"/>
                          </a:solidFill>
                          <a:latin typeface="Calibri"/>
                        </a:defRPr>
                      </a:pPr>
                      <a:r>
                        <a:t>26.71 dB</a:t>
                      </a:r>
                    </a:p>
                  </a:txBody>
                  <a:tcPr anchor="ctr"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22703C"/>
                          </a:solidFill>
                          <a:latin typeface="Calibri"/>
                        </a:defRPr>
                      </a:pPr>
                      <a:r>
                        <a:t>+12.06 dB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22703C"/>
                          </a:solidFill>
                          <a:latin typeface="Calibri"/>
                        </a:defRPr>
                      </a:pPr>
                      <a:r>
                        <a:t>+0.29 dB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382905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SSIM (Structural Similarity)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0.8250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0.9482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0.7037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43250"/>
                          </a:solidFill>
                          <a:latin typeface="Calibri"/>
                        </a:defRPr>
                      </a:pPr>
                      <a:r>
                        <a:t>0.9485</a:t>
                      </a:r>
                    </a:p>
                  </a:txBody>
                  <a:tcPr anchor="ctr"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22703C"/>
                          </a:solidFill>
                          <a:latin typeface="Calibri"/>
                        </a:defRPr>
                      </a:pPr>
                      <a:r>
                        <a:t>+0.1235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22703C"/>
                          </a:solidFill>
                          <a:latin typeface="Calibri"/>
                        </a:defRPr>
                      </a:pPr>
                      <a:r>
                        <a:t>+0.0003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2905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AP@0.50 (Standard VOC)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0.4527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0.4415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0.4706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43250"/>
                          </a:solidFill>
                          <a:latin typeface="Calibri"/>
                        </a:defRPr>
                      </a:pPr>
                      <a:r>
                        <a:t>0.4891</a:t>
                      </a:r>
                    </a:p>
                  </a:txBody>
                  <a:tcPr anchor="ctr"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22703C"/>
                          </a:solidFill>
                          <a:latin typeface="Calibri"/>
                        </a:defRPr>
                      </a:pPr>
                      <a:r>
                        <a:t>+0.0364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22703C"/>
                          </a:solidFill>
                          <a:latin typeface="Calibri"/>
                        </a:defRPr>
                      </a:pPr>
                      <a:r>
                        <a:t>+0.0476 (+4.8 pts)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382905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AP@0.75 (Strict Boundary)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0.2593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0.2602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0.2825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43250"/>
                          </a:solidFill>
                          <a:latin typeface="Calibri"/>
                        </a:defRPr>
                      </a:pPr>
                      <a:r>
                        <a:t>0.2903</a:t>
                      </a:r>
                    </a:p>
                  </a:txBody>
                  <a:tcPr anchor="ctr"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22703C"/>
                          </a:solidFill>
                          <a:latin typeface="Calibri"/>
                        </a:defRPr>
                      </a:pPr>
                      <a:r>
                        <a:t>+0.0310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22703C"/>
                          </a:solidFill>
                          <a:latin typeface="Calibri"/>
                        </a:defRPr>
                      </a:pPr>
                      <a:r>
                        <a:t>+0.0301 (+11.6%)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2905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AP@0.95 (Ultra-Strict)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0.0163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0.0212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0.0209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43250"/>
                          </a:solidFill>
                          <a:latin typeface="Calibri"/>
                        </a:defRPr>
                      </a:pPr>
                      <a:r>
                        <a:t>0.0215</a:t>
                      </a:r>
                    </a:p>
                  </a:txBody>
                  <a:tcPr anchor="ctr"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22703C"/>
                          </a:solidFill>
                          <a:latin typeface="Calibri"/>
                        </a:defRPr>
                      </a:pPr>
                      <a:r>
                        <a:t>+0.0052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22703C"/>
                          </a:solidFill>
                          <a:latin typeface="Calibri"/>
                        </a:defRPr>
                      </a:pPr>
                      <a:r>
                        <a:t>+0.0003 (+1.4%)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382905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mAP@[0.50:0.95] (COCO Mean)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0.2657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0.2625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0.2811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43250"/>
                          </a:solidFill>
                          <a:latin typeface="Calibri"/>
                        </a:defRPr>
                      </a:pPr>
                      <a:r>
                        <a:t>0.2924</a:t>
                      </a:r>
                    </a:p>
                  </a:txBody>
                  <a:tcPr anchor="ctr"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22703C"/>
                          </a:solidFill>
                          <a:latin typeface="Calibri"/>
                        </a:defRPr>
                      </a:pPr>
                      <a:r>
                        <a:t>+0.0267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22703C"/>
                          </a:solidFill>
                          <a:latin typeface="Calibri"/>
                        </a:defRPr>
                      </a:pPr>
                      <a:r>
                        <a:t>+0.0299 (+11.4%)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2905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Total Detections Predicted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83,105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100,073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99,945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43250"/>
                          </a:solidFill>
                          <a:latin typeface="Calibri"/>
                        </a:defRPr>
                      </a:pPr>
                      <a:r>
                        <a:t>98,097</a:t>
                      </a:r>
                    </a:p>
                  </a:txBody>
                  <a:tcPr anchor="ctr"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22703C"/>
                          </a:solidFill>
                          <a:latin typeface="Calibri"/>
                        </a:defRPr>
                      </a:pPr>
                      <a:r>
                        <a:t>+14,992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595959"/>
                          </a:solidFill>
                          <a:latin typeface="Calibri"/>
                        </a:defRPr>
                      </a:pPr>
                      <a:r>
                        <a:t>-1,976 (Cleaner)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1520" y="4736592"/>
            <a:ext cx="3429000" cy="1536192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/>
          <a:lstStyle/>
          <a:p>
            <a:pPr algn="ctr">
              <a:defRPr sz="1100" b="1">
                <a:solidFill>
                  <a:srgbClr val="1F4E78"/>
                </a:solidFill>
                <a:latin typeface="Calibri"/>
              </a:defRPr>
            </a:pPr>
            <a:r>
              <a:t>In-Domain Reconstruction (PSNR)</a:t>
            </a:r>
          </a:p>
          <a:p>
            <a:pPr>
              <a:spcBef>
                <a:spcPts val="300"/>
              </a:spcBef>
              <a:defRPr sz="950">
                <a:solidFill>
                  <a:srgbClr val="595959"/>
                </a:solidFill>
                <a:latin typeface="Calibri"/>
              </a:defRPr>
            </a:pPr>
            <a:r>
              <a:t>On 1,500 paired Foggy Cityscapes scenes @ 2048x1024, our method achieves 26.71 dB PSNR (+0.29 dB over the paper). Classical DCP yields only 15.79 dB due to unnatural texture and color distortions.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9976" y="4736592"/>
            <a:ext cx="3429000" cy="1536192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/>
          <a:lstStyle/>
          <a:p>
            <a:pPr algn="ctr">
              <a:defRPr sz="1100" b="1">
                <a:solidFill>
                  <a:srgbClr val="1F4E78"/>
                </a:solidFill>
                <a:latin typeface="Calibri"/>
              </a:defRPr>
            </a:pPr>
            <a:r>
              <a:t>Real Fog Task Utility (AP@0.50)</a:t>
            </a:r>
          </a:p>
          <a:p>
            <a:pPr>
              <a:spcBef>
                <a:spcPts val="300"/>
              </a:spcBef>
              <a:defRPr sz="950">
                <a:solidFill>
                  <a:srgbClr val="595959"/>
                </a:solidFill>
                <a:latin typeface="Calibri"/>
              </a:defRPr>
            </a:pPr>
            <a:r>
              <a:t>While the reference paper reduces detection accuracy on real fog (-0.0112 AP@0.50 vs raw hazy), our method provides genuine visual recovery (+0.0364 AP@0.50, beating classical DCP by +0.0185).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2" y="4736592"/>
            <a:ext cx="3429000" cy="1536192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/>
          <a:lstStyle/>
          <a:p>
            <a:pPr algn="ctr">
              <a:defRPr sz="1100" b="1">
                <a:solidFill>
                  <a:srgbClr val="1F4E78"/>
                </a:solidFill>
                <a:latin typeface="Calibri"/>
              </a:defRPr>
            </a:pPr>
            <a:r>
              <a:t>Boundary Localization Precision</a:t>
            </a:r>
          </a:p>
          <a:p>
            <a:pPr>
              <a:spcBef>
                <a:spcPts val="300"/>
              </a:spcBef>
              <a:defRPr sz="950">
                <a:solidFill>
                  <a:srgbClr val="595959"/>
                </a:solidFill>
                <a:latin typeface="Calibri"/>
              </a:defRPr>
            </a:pPr>
            <a:r>
              <a:t>Under strict IoU criteria (AP@0.75), our method delivers an 11.6% relative gain over the reference paper (+0.0301 AP) while predicting 1,976 fewer false-positive boxes.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F4E78"/>
                </a:solidFill>
                <a:latin typeface="Calibri"/>
              </a:defRPr>
            </a:pPr>
            <a:r>
              <a:t>DEPLOYMENT &amp; EFFICIENCY</a:t>
            </a:r>
          </a:p>
          <a:p>
            <a:pPr>
              <a:spcBef>
                <a:spcPts val="300"/>
              </a:spcBef>
              <a:defRPr sz="2400" b="1">
                <a:solidFill>
                  <a:srgbClr val="262626"/>
                </a:solidFill>
                <a:latin typeface="Calibri"/>
              </a:defRPr>
            </a:pPr>
            <a:r>
              <a:t>Model Complexity &amp; Operational Footprint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2D7DE"/>
          </a:solidFill>
          <a:ln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A0A0A0"/>
                </a:solidFill>
                <a:latin typeface="Calibri"/>
              </a:defRPr>
            </a:pPr>
            <a:r>
              <a:t>Real-World Dehazing Evaluation | Frozen COCO YOLOv8n | Foggy Cityscapes &amp; RTTS Benchmark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600200"/>
          <a:ext cx="10728655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560320"/>
                <a:gridCol w="2560320"/>
                <a:gridCol w="2681935"/>
              </a:tblGrid>
              <a:tr h="493776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Deployment Metric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Reference Paper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Our Method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Advantage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Total Model Parameters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26.4 M (26,378,804)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43250"/>
                          </a:solidFill>
                          <a:latin typeface="Calibri"/>
                        </a:defRPr>
                      </a:pPr>
                      <a:r>
                        <a:t>7.8 M (7,766,084)</a:t>
                      </a:r>
                    </a:p>
                  </a:txBody>
                  <a:tcPr anchor="ctr"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2703C"/>
                          </a:solidFill>
                          <a:latin typeface="Calibri"/>
                        </a:defRPr>
                      </a:pPr>
                      <a:r>
                        <a:t>70.6% parameter reduction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Active Models in Memory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4 (1 Classifier + 3 Dehazers)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43250"/>
                          </a:solidFill>
                          <a:latin typeface="Calibri"/>
                        </a:defRPr>
                      </a:pPr>
                      <a:r>
                        <a:t>1 (Single Unified Model)</a:t>
                      </a:r>
                    </a:p>
                  </a:txBody>
                  <a:tcPr anchor="ctr"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2703C"/>
                          </a:solidFill>
                          <a:latin typeface="Calibri"/>
                        </a:defRPr>
                      </a:pPr>
                      <a:r>
                        <a:t>3.4x lower VRAM footprint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Inference Latency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240 ms / image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43250"/>
                          </a:solidFill>
                          <a:latin typeface="Calibri"/>
                        </a:defRPr>
                      </a:pPr>
                      <a:r>
                        <a:t>230 ms / image</a:t>
                      </a:r>
                    </a:p>
                  </a:txBody>
                  <a:tcPr anchor="ctr"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2703C"/>
                          </a:solidFill>
                          <a:latin typeface="Calibri"/>
                        </a:defRPr>
                      </a:pPr>
                      <a:r>
                        <a:t>Faster runtime execution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Downstream Detector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Fine-tuned / Coupled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43250"/>
                          </a:solidFill>
                          <a:latin typeface="Calibri"/>
                        </a:defRPr>
                      </a:pPr>
                      <a:r>
                        <a:t>100% Frozen Standard</a:t>
                      </a:r>
                    </a:p>
                  </a:txBody>
                  <a:tcPr anchor="ctr"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2703C"/>
                          </a:solidFill>
                          <a:latin typeface="Calibri"/>
                        </a:defRPr>
                      </a:pPr>
                      <a:r>
                        <a:t>Universal plug-and-play modularity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1520" y="4343400"/>
            <a:ext cx="3429000" cy="1874519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/>
          <a:lstStyle/>
          <a:p>
            <a:pPr algn="ctr">
              <a:defRPr sz="1200" b="1">
                <a:solidFill>
                  <a:srgbClr val="1F4E78"/>
                </a:solidFill>
                <a:latin typeface="Calibri"/>
              </a:defRPr>
            </a:pPr>
            <a:r>
              <a:t>Single Unified Backbone</a:t>
            </a:r>
          </a:p>
          <a:p>
            <a:pPr>
              <a:spcBef>
                <a:spcPts val="600"/>
              </a:spcBef>
              <a:defRPr sz="1000">
                <a:solidFill>
                  <a:srgbClr val="595959"/>
                </a:solidFill>
                <a:latin typeface="Calibri"/>
              </a:defRPr>
            </a:pPr>
            <a:r>
              <a:t>Instead of maintaining 4 distinct neural networks in VRAM (classifier + 3 branches), our architecture relies on a single compact spatial backbone with depth-adaptive gating.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9976" y="4343400"/>
            <a:ext cx="3429000" cy="1874519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/>
          <a:lstStyle/>
          <a:p>
            <a:pPr algn="ctr">
              <a:defRPr sz="1200" b="1">
                <a:solidFill>
                  <a:srgbClr val="1F4E78"/>
                </a:solidFill>
                <a:latin typeface="Calibri"/>
              </a:defRPr>
            </a:pPr>
            <a:r>
              <a:t>Universal Plug-and-Play</a:t>
            </a:r>
          </a:p>
          <a:p>
            <a:pPr>
              <a:spcBef>
                <a:spcPts val="600"/>
              </a:spcBef>
              <a:defRPr sz="1000">
                <a:solidFill>
                  <a:srgbClr val="595959"/>
                </a:solidFill>
                <a:latin typeface="Calibri"/>
              </a:defRPr>
            </a:pPr>
            <a:r>
              <a:t>The downstream YOLO detector is completely frozen and unmodified. Our dehazer functions as an impartial optical pre-processor compatible with any off-the-shelf vision system.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2" y="4343400"/>
            <a:ext cx="3429000" cy="1874519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/>
          <a:lstStyle/>
          <a:p>
            <a:pPr algn="ctr">
              <a:defRPr sz="1200" b="1">
                <a:solidFill>
                  <a:srgbClr val="1F4E78"/>
                </a:solidFill>
                <a:latin typeface="Calibri"/>
              </a:defRPr>
            </a:pPr>
            <a:r>
              <a:t>Edge &amp; Real-Time Viability</a:t>
            </a:r>
          </a:p>
          <a:p>
            <a:pPr>
              <a:spcBef>
                <a:spcPts val="600"/>
              </a:spcBef>
              <a:defRPr sz="1000">
                <a:solidFill>
                  <a:srgbClr val="595959"/>
                </a:solidFill>
                <a:latin typeface="Calibri"/>
              </a:defRPr>
            </a:pPr>
            <a:r>
              <a:t>Delivers superior restoration and detection accuracy while reducing parameters by 70% and inference latency to 230 ms, making it feasible for embedded and automotive applications.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