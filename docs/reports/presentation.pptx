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FB391A-1292-46F2-9F94-BA4B087AE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50250-AC7A-B31F-A18A-5D4A673050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CF569F-2356-D358-7420-E7265CAF6B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1E3555-D0AA-A2D7-B3DF-14BB9EDAB9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9EC70C-9F93-AA28-06DC-12B2070A81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40484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500897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875752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748795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13515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7386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94979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34921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012383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22397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75431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73768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27317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640500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2188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4530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648781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89576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43258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536376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20628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261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27684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31818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13021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359989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240227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4649944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129827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388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594969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23109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45789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81262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0537982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87560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92733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386044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08072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403671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7312842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28416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079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018655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585088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40346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881829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0497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482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02909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01135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111452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39528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70654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588692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4772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366812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66900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91178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03781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5805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1236348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368830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42973" name="Rectangle 3"/>
          <p:cNvSpPr/>
          <p:nvPr/>
        </p:nvSpPr>
        <p:spPr bwMode="auto">
          <a:xfrm>
            <a:off x="731520" y="2011680"/>
            <a:ext cx="109728" cy="25603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6052699" name="TextBox 4"/>
          <p:cNvSpPr txBox="1"/>
          <p:nvPr/>
        </p:nvSpPr>
        <p:spPr bwMode="auto">
          <a:xfrm>
            <a:off x="941893" y="1592346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  <a:latin typeface="Calibri"/>
              </a:defRPr>
            </a:pPr>
            <a:r>
              <a:rPr/>
              <a:t>IMAGE RESTORATION &amp; OBJECT DETECTION</a:t>
            </a:r>
            <a:endParaRPr/>
          </a:p>
          <a:p>
            <a:pPr>
              <a:spcBef>
                <a:spcPts val="800"/>
              </a:spcBef>
              <a:defRPr sz="3600" b="1">
                <a:solidFill>
                  <a:srgbClr val="262626"/>
                </a:solidFill>
                <a:latin typeface="Calibri"/>
              </a:defRPr>
            </a:pPr>
            <a:r>
              <a:rPr/>
              <a:t>Real-World Image Dehazing for Object Detection</a:t>
            </a:r>
            <a:endParaRPr/>
          </a:p>
          <a:p>
            <a:pPr>
              <a:spcBef>
                <a:spcPts val="1400"/>
              </a:spcBef>
              <a:defRPr sz="1600">
                <a:solidFill>
                  <a:srgbClr val="595959"/>
                </a:solidFill>
                <a:latin typeface="Calibri"/>
              </a:defRPr>
            </a:pPr>
            <a:r>
              <a:rPr/>
              <a:t>Comparative Benchmark: Baseline vs. Reference Paper vs. Classical DCP vs. Our Method</a:t>
            </a:r>
            <a:endParaRPr/>
          </a:p>
        </p:txBody>
      </p:sp>
      <p:sp>
        <p:nvSpPr>
          <p:cNvPr id="903497333" name="TextBox 5"/>
          <p:cNvSpPr txBox="1"/>
          <p:nvPr/>
        </p:nvSpPr>
        <p:spPr bwMode="auto">
          <a:xfrm>
            <a:off x="1340264" y="4926252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95959"/>
                </a:solidFill>
                <a:latin typeface="Calibri"/>
              </a:defRPr>
            </a:pPr>
            <a:r>
              <a:rPr/>
              <a:t>Evaluation Protocol:</a:t>
            </a:r>
            <a:br>
              <a:rPr/>
            </a:br>
            <a:r>
              <a:rPr/>
              <a:t>• Image Reconstruction Fidelity: PSNR &amp; SSIM on paired Foggy Cityscapes (1,500 scenes @ 2048x1024)</a:t>
            </a:r>
            <a:br>
              <a:rPr/>
            </a:br>
            <a:r>
              <a:rPr/>
              <a:t>• Real-World Detection Utility: VOC AP@0.50, Strict AP@0.75, COCO mAP on held-out RTTS Valid (865 images)</a:t>
            </a:r>
            <a:br>
              <a:rPr/>
            </a:br>
            <a:r>
              <a:rPr/>
              <a:t>• Impartial Perception Setup: Off-the-shelf YOLOv8n detector with 100% frozen COCO weights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769803" name="TextBox 1"/>
          <p:cNvSpPr txBox="1"/>
          <p:nvPr/>
        </p:nvSpPr>
        <p:spPr bwMode="auto">
          <a:xfrm>
            <a:off x="731520" y="411480"/>
            <a:ext cx="1072865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4E78"/>
                </a:solidFill>
                <a:latin typeface="Calibri"/>
              </a:defRPr>
            </a:pPr>
            <a:r>
              <a:rPr/>
              <a:t>SYSTEM ARCHITECTURES</a:t>
            </a:r>
            <a:endParaRPr/>
          </a:p>
          <a:p>
            <a:pPr>
              <a:spcBef>
                <a:spcPts val="300"/>
              </a:spcBef>
              <a:defRPr sz="2400" b="1">
                <a:solidFill>
                  <a:srgbClr val="262626"/>
                </a:solidFill>
                <a:latin typeface="Calibri"/>
              </a:defRPr>
            </a:pPr>
            <a:r>
              <a:rPr/>
              <a:t>Method Overview: Core Architectures &amp; Principles</a:t>
            </a:r>
            <a:endParaRPr/>
          </a:p>
        </p:txBody>
      </p:sp>
      <p:sp>
        <p:nvSpPr>
          <p:cNvPr id="180782536" name="Rectangle 2"/>
          <p:cNvSpPr/>
          <p:nvPr/>
        </p:nvSpPr>
        <p:spPr bwMode="auto">
          <a:xfrm>
            <a:off x="731520" y="1371600"/>
            <a:ext cx="10728654" cy="18288"/>
          </a:xfrm>
          <a:prstGeom prst="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198176" name="TextBox 3"/>
          <p:cNvSpPr txBox="1"/>
          <p:nvPr/>
        </p:nvSpPr>
        <p:spPr bwMode="auto">
          <a:xfrm>
            <a:off x="731520" y="6400800"/>
            <a:ext cx="1072865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A0A0A0"/>
                </a:solidFill>
                <a:latin typeface="Calibri"/>
              </a:defRPr>
            </a:pPr>
            <a:r>
              <a:rPr/>
              <a:t>Real-World Dehazing Evaluation | Frozen COCO YOLOv8n | Foggy Cityscapes &amp; RTTS Benchmark</a:t>
            </a:r>
            <a:endParaRPr/>
          </a:p>
        </p:txBody>
      </p:sp>
      <p:sp>
        <p:nvSpPr>
          <p:cNvPr id="221053727" name="Rounded Rectangle 4"/>
          <p:cNvSpPr/>
          <p:nvPr/>
        </p:nvSpPr>
        <p:spPr bwMode="auto">
          <a:xfrm>
            <a:off x="731520" y="1600200"/>
            <a:ext cx="2542032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3978835" name="Rectangle 5"/>
          <p:cNvSpPr/>
          <p:nvPr/>
        </p:nvSpPr>
        <p:spPr bwMode="auto">
          <a:xfrm>
            <a:off x="731520" y="1600200"/>
            <a:ext cx="2542032" cy="7315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1300" b="1">
                <a:solidFill>
                  <a:srgbClr val="262626"/>
                </a:solidFill>
                <a:latin typeface="Calibri"/>
              </a:defRPr>
            </a:pPr>
            <a:r>
              <a:rPr/>
              <a:t>1. Raw Hazy Baseline</a:t>
            </a:r>
            <a:endParaRPr/>
          </a:p>
          <a:p>
            <a:pPr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Untreated Capture</a:t>
            </a:r>
            <a:endParaRPr/>
          </a:p>
        </p:txBody>
      </p:sp>
      <p:sp>
        <p:nvSpPr>
          <p:cNvPr id="994566557" name="TextBox 6"/>
          <p:cNvSpPr txBox="1"/>
          <p:nvPr/>
        </p:nvSpPr>
        <p:spPr bwMode="auto">
          <a:xfrm>
            <a:off x="841248" y="2423160"/>
            <a:ext cx="232257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62626"/>
                </a:solidFill>
                <a:latin typeface="Calibri"/>
              </a:defRPr>
            </a:pPr>
            <a:r>
              <a:rPr/>
              <a:t>Pipeline: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Direct camera input evaluated without enhancement preprocessing.</a:t>
            </a:r>
            <a:endParaRPr/>
          </a:p>
          <a:p>
            <a:pPr>
              <a:spcBef>
                <a:spcPts val="800"/>
              </a:spcBef>
              <a:defRPr sz="1100" b="1">
                <a:solidFill>
                  <a:srgbClr val="262626"/>
                </a:solidFill>
                <a:latin typeface="Calibri"/>
              </a:defRPr>
            </a:pPr>
            <a:r>
              <a:rPr/>
              <a:t>Principle: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Preserves unmodified sensor pixel values directly for detection.</a:t>
            </a:r>
            <a:endParaRPr/>
          </a:p>
          <a:p>
            <a:pPr>
              <a:spcBef>
                <a:spcPts val="800"/>
              </a:spcBef>
              <a:defRPr sz="1100" b="1">
                <a:solidFill>
                  <a:srgbClr val="262626"/>
                </a:solidFill>
                <a:latin typeface="Calibri"/>
              </a:defRPr>
            </a:pPr>
            <a:r>
              <a:rPr/>
              <a:t>Limitation: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Severe contrast loss, faded color saturation, and dense atmospheric veil obscuring distant objects.</a:t>
            </a:r>
            <a:endParaRPr/>
          </a:p>
        </p:txBody>
      </p:sp>
      <p:sp>
        <p:nvSpPr>
          <p:cNvPr id="785975198" name="Rounded Rectangle 7"/>
          <p:cNvSpPr/>
          <p:nvPr/>
        </p:nvSpPr>
        <p:spPr bwMode="auto">
          <a:xfrm>
            <a:off x="3456432" y="1600200"/>
            <a:ext cx="2542032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0376259" name="Rectangle 8"/>
          <p:cNvSpPr/>
          <p:nvPr/>
        </p:nvSpPr>
        <p:spPr bwMode="auto">
          <a:xfrm>
            <a:off x="3456432" y="1600200"/>
            <a:ext cx="2542032" cy="7315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1300" b="1">
                <a:solidFill>
                  <a:srgbClr val="262626"/>
                </a:solidFill>
                <a:latin typeface="Calibri"/>
              </a:defRPr>
            </a:pPr>
            <a:r>
              <a:rPr/>
              <a:t>2. Reference Paper</a:t>
            </a:r>
            <a:endParaRPr/>
          </a:p>
          <a:p>
            <a:pPr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Density-Routed CORUN</a:t>
            </a:r>
            <a:endParaRPr/>
          </a:p>
        </p:txBody>
      </p:sp>
      <p:sp>
        <p:nvSpPr>
          <p:cNvPr id="1370913415" name="TextBox 9"/>
          <p:cNvSpPr txBox="1"/>
          <p:nvPr/>
        </p:nvSpPr>
        <p:spPr bwMode="auto">
          <a:xfrm>
            <a:off x="3566160" y="2423160"/>
            <a:ext cx="232257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62626"/>
                </a:solidFill>
                <a:latin typeface="Calibri"/>
              </a:defRPr>
            </a:pPr>
            <a:r>
              <a:rPr/>
              <a:t>Pipeline: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Classifier categorizes frame into Light, Medium, or Heavy fog, routing to 1 of 3 U-Nets.</a:t>
            </a:r>
            <a:endParaRPr/>
          </a:p>
          <a:p>
            <a:pPr>
              <a:spcBef>
                <a:spcPts val="800"/>
              </a:spcBef>
              <a:defRPr sz="1100" b="1">
                <a:solidFill>
                  <a:srgbClr val="262626"/>
                </a:solidFill>
                <a:latin typeface="Calibri"/>
              </a:defRPr>
            </a:pPr>
            <a:r>
              <a:rPr/>
              <a:t>Principle: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Multi-branch specialization targeting discrete synthetic fog levels.</a:t>
            </a:r>
            <a:endParaRPr/>
          </a:p>
          <a:p>
            <a:pPr>
              <a:spcBef>
                <a:spcPts val="800"/>
              </a:spcBef>
              <a:defRPr sz="1100" b="1">
                <a:solidFill>
                  <a:srgbClr val="262626"/>
                </a:solidFill>
                <a:latin typeface="Calibri"/>
              </a:defRPr>
            </a:pPr>
            <a:r>
              <a:rPr/>
              <a:t>Limitation: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Uniform fog assumption fails on 3D perspective scenes; partitions training data into 3 smaller subsets.</a:t>
            </a:r>
            <a:endParaRPr/>
          </a:p>
        </p:txBody>
      </p:sp>
      <p:sp>
        <p:nvSpPr>
          <p:cNvPr id="1519498539" name="Rounded Rectangle 10"/>
          <p:cNvSpPr/>
          <p:nvPr/>
        </p:nvSpPr>
        <p:spPr bwMode="auto">
          <a:xfrm>
            <a:off x="6181344" y="1600200"/>
            <a:ext cx="2542032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7324034" name="Rectangle 11"/>
          <p:cNvSpPr/>
          <p:nvPr/>
        </p:nvSpPr>
        <p:spPr bwMode="auto">
          <a:xfrm>
            <a:off x="6181344" y="1600200"/>
            <a:ext cx="2542032" cy="7315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1300" b="1">
                <a:solidFill>
                  <a:srgbClr val="262626"/>
                </a:solidFill>
                <a:latin typeface="Calibri"/>
              </a:defRPr>
            </a:pPr>
            <a:r>
              <a:rPr/>
              <a:t>3. Classical DCP</a:t>
            </a:r>
            <a:endParaRPr/>
          </a:p>
          <a:p>
            <a:pPr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He et al. (2009) Prior</a:t>
            </a:r>
            <a:endParaRPr/>
          </a:p>
        </p:txBody>
      </p:sp>
      <p:sp>
        <p:nvSpPr>
          <p:cNvPr id="321384638" name="TextBox 12"/>
          <p:cNvSpPr txBox="1"/>
          <p:nvPr/>
        </p:nvSpPr>
        <p:spPr bwMode="auto">
          <a:xfrm>
            <a:off x="6291072" y="2423160"/>
            <a:ext cx="232257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62626"/>
                </a:solidFill>
                <a:latin typeface="Calibri"/>
              </a:defRPr>
            </a:pPr>
            <a:r>
              <a:rPr/>
              <a:t>Pipeline: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Dark Channel Prior with guided filtering to invert the atmospheric scattering model.</a:t>
            </a:r>
            <a:endParaRPr/>
          </a:p>
          <a:p>
            <a:pPr>
              <a:spcBef>
                <a:spcPts val="800"/>
              </a:spcBef>
              <a:defRPr sz="1100" b="1">
                <a:solidFill>
                  <a:srgbClr val="262626"/>
                </a:solidFill>
                <a:latin typeface="Calibri"/>
              </a:defRPr>
            </a:pPr>
            <a:r>
              <a:rPr/>
              <a:t>Principle: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Parameter-free physical heuristic; long-standing historical real-fog benchmark.</a:t>
            </a:r>
            <a:endParaRPr/>
          </a:p>
          <a:p>
            <a:pPr>
              <a:spcBef>
                <a:spcPts val="800"/>
              </a:spcBef>
              <a:defRPr sz="1100" b="1">
                <a:solidFill>
                  <a:srgbClr val="262626"/>
                </a:solidFill>
                <a:latin typeface="Calibri"/>
              </a:defRPr>
            </a:pPr>
            <a:r>
              <a:rPr/>
              <a:t>Limitation: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Prior assumption fails in sky, facades, and headlights, creating severe halos and blocking artifacts.</a:t>
            </a:r>
            <a:endParaRPr/>
          </a:p>
        </p:txBody>
      </p:sp>
      <p:sp>
        <p:nvSpPr>
          <p:cNvPr id="2138088803" name="Rounded Rectangle 13"/>
          <p:cNvSpPr/>
          <p:nvPr/>
        </p:nvSpPr>
        <p:spPr bwMode="auto">
          <a:xfrm>
            <a:off x="8906256" y="1600200"/>
            <a:ext cx="2542032" cy="4480560"/>
          </a:xfrm>
          <a:prstGeom prst="roundRect">
            <a:avLst>
              <a:gd name="adj" fmla="val 16667"/>
            </a:avLst>
          </a:prstGeom>
          <a:solidFill>
            <a:srgbClr val="EBF3FA"/>
          </a:solidFill>
          <a:ln w="1905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6494948" name="Rectangle 14"/>
          <p:cNvSpPr/>
          <p:nvPr/>
        </p:nvSpPr>
        <p:spPr bwMode="auto">
          <a:xfrm>
            <a:off x="8906256" y="1600200"/>
            <a:ext cx="2542032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/>
              <a:t>4. Our Method</a:t>
            </a:r>
            <a:endParaRPr/>
          </a:p>
          <a:p>
            <a:pPr>
              <a:defRPr sz="1000">
                <a:solidFill>
                  <a:srgbClr val="D2E6FA"/>
                </a:solidFill>
                <a:latin typeface="Calibri"/>
              </a:defRPr>
            </a:pPr>
            <a:r>
              <a:rPr/>
              <a:t>Unified Spatial Network</a:t>
            </a:r>
            <a:endParaRPr/>
          </a:p>
        </p:txBody>
      </p:sp>
      <p:sp>
        <p:nvSpPr>
          <p:cNvPr id="1873484470" name="TextBox 15"/>
          <p:cNvSpPr txBox="1"/>
          <p:nvPr/>
        </p:nvSpPr>
        <p:spPr bwMode="auto">
          <a:xfrm>
            <a:off x="9015984" y="2423160"/>
            <a:ext cx="232257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F4E78"/>
                </a:solidFill>
                <a:latin typeface="Calibri"/>
              </a:defRPr>
            </a:pPr>
            <a:r>
              <a:rPr/>
              <a:t>Pipeline: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262626"/>
                </a:solidFill>
                <a:latin typeface="Calibri"/>
              </a:defRPr>
            </a:pPr>
            <a:r>
              <a:rPr/>
              <a:t>Single compact neural network with continuous per-pixel spatial gating across depth.</a:t>
            </a:r>
            <a:endParaRPr/>
          </a:p>
          <a:p>
            <a:pPr>
              <a:spcBef>
                <a:spcPts val="800"/>
              </a:spcBef>
              <a:defRPr sz="1100" b="1">
                <a:solidFill>
                  <a:srgbClr val="1F4E78"/>
                </a:solidFill>
                <a:latin typeface="Calibri"/>
              </a:defRPr>
            </a:pPr>
            <a:r>
              <a:rPr/>
              <a:t>Principle: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262626"/>
                </a:solidFill>
                <a:latin typeface="Calibri"/>
              </a:defRPr>
            </a:pPr>
            <a:r>
              <a:rPr/>
              <a:t>Physical airlight randomization (A in [0.4, 0.95]) and task-aligned feature supervision.</a:t>
            </a:r>
            <a:endParaRPr/>
          </a:p>
          <a:p>
            <a:pPr>
              <a:spcBef>
                <a:spcPts val="800"/>
              </a:spcBef>
              <a:defRPr sz="1100" b="1">
                <a:solidFill>
                  <a:srgbClr val="1F4E78"/>
                </a:solidFill>
                <a:latin typeface="Calibri"/>
              </a:defRPr>
            </a:pPr>
            <a:r>
              <a:rPr/>
              <a:t>Advantage:</a:t>
            </a:r>
            <a:endParaRPr/>
          </a:p>
          <a:p>
            <a:pPr>
              <a:spcBef>
                <a:spcPts val="200"/>
              </a:spcBef>
              <a:defRPr sz="1000">
                <a:solidFill>
                  <a:srgbClr val="262626"/>
                </a:solidFill>
                <a:latin typeface="Calibri"/>
              </a:defRPr>
            </a:pPr>
            <a:r>
              <a:rPr/>
              <a:t>Adapts across scene depth gradients without haloing, delivering genuine real-world perceptual recovery.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101105" name="TextBox 1"/>
          <p:cNvSpPr txBox="1"/>
          <p:nvPr/>
        </p:nvSpPr>
        <p:spPr bwMode="auto">
          <a:xfrm>
            <a:off x="731520" y="411480"/>
            <a:ext cx="1072865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4E78"/>
                </a:solidFill>
                <a:latin typeface="Calibri"/>
              </a:defRPr>
            </a:pPr>
            <a:r>
              <a:rPr/>
              <a:t>VISUAL RESULTS</a:t>
            </a:r>
            <a:endParaRPr/>
          </a:p>
          <a:p>
            <a:pPr>
              <a:spcBef>
                <a:spcPts val="300"/>
              </a:spcBef>
              <a:defRPr sz="2400" b="1">
                <a:solidFill>
                  <a:srgbClr val="262626"/>
                </a:solidFill>
                <a:latin typeface="Calibri"/>
              </a:defRPr>
            </a:pPr>
            <a:r>
              <a:rPr/>
              <a:t>Qualitative Comparison: Distinguishable Visual Characteristics</a:t>
            </a:r>
            <a:endParaRPr/>
          </a:p>
        </p:txBody>
      </p:sp>
      <p:sp>
        <p:nvSpPr>
          <p:cNvPr id="2146109834" name="Rectangle 2"/>
          <p:cNvSpPr/>
          <p:nvPr/>
        </p:nvSpPr>
        <p:spPr bwMode="auto">
          <a:xfrm>
            <a:off x="731520" y="1371600"/>
            <a:ext cx="10728654" cy="18288"/>
          </a:xfrm>
          <a:prstGeom prst="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8981322" name="TextBox 3"/>
          <p:cNvSpPr txBox="1"/>
          <p:nvPr/>
        </p:nvSpPr>
        <p:spPr bwMode="auto">
          <a:xfrm>
            <a:off x="731520" y="6400800"/>
            <a:ext cx="1072865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A0A0A0"/>
                </a:solidFill>
                <a:latin typeface="Calibri"/>
              </a:defRPr>
            </a:pPr>
            <a:r>
              <a:rPr/>
              <a:t>Real-World Dehazing Evaluation | Frozen COCO YOLOv8n | Foggy Cityscapes &amp; RTTS Benchmark</a:t>
            </a:r>
            <a:endParaRPr/>
          </a:p>
        </p:txBody>
      </p:sp>
      <p:sp>
        <p:nvSpPr>
          <p:cNvPr id="1330036346" name="TextBox 4"/>
          <p:cNvSpPr txBox="1"/>
          <p:nvPr/>
        </p:nvSpPr>
        <p:spPr bwMode="auto">
          <a:xfrm>
            <a:off x="731520" y="1508759"/>
            <a:ext cx="1072865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F4E78"/>
                </a:solidFill>
                <a:latin typeface="Calibri"/>
              </a:defRPr>
            </a:pPr>
            <a:r>
              <a:rPr/>
              <a:t>DEHAZED IMAGE QUALITY (LEFT TO RIGHT: RAW HAZY | REFERENCE PAPER | CLASSICAL DCP | OUR METHOD)</a:t>
            </a:r>
            <a:endParaRPr/>
          </a:p>
        </p:txBody>
      </p:sp>
      <p:pic>
        <p:nvPicPr>
          <p:cNvPr id="1732929064" name="Picture 5" descr="method_comparison_visua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1520" y="1783080"/>
            <a:ext cx="10728654" cy="1783080"/>
          </a:xfrm>
          <a:prstGeom prst="rect">
            <a:avLst/>
          </a:prstGeom>
        </p:spPr>
      </p:pic>
      <p:sp>
        <p:nvSpPr>
          <p:cNvPr id="427864615" name="TextBox 6"/>
          <p:cNvSpPr txBox="1"/>
          <p:nvPr/>
        </p:nvSpPr>
        <p:spPr bwMode="auto">
          <a:xfrm>
            <a:off x="731520" y="3657600"/>
            <a:ext cx="1072865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F4E78"/>
                </a:solidFill>
                <a:latin typeface="Calibri"/>
              </a:defRPr>
            </a:pPr>
            <a:r>
              <a:rPr/>
              <a:t>DOWNSTREAM DETECTION OUTPUTS (YOLOV8N PREDICTIONS WITH BOUNDING BOXES)</a:t>
            </a:r>
            <a:endParaRPr/>
          </a:p>
        </p:txBody>
      </p:sp>
      <p:pic>
        <p:nvPicPr>
          <p:cNvPr id="678385635" name="Picture 7" descr="method_comparison_detectio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1520" y="3931920"/>
            <a:ext cx="10728654" cy="1783080"/>
          </a:xfrm>
          <a:prstGeom prst="rect">
            <a:avLst/>
          </a:prstGeom>
        </p:spPr>
      </p:pic>
      <p:sp>
        <p:nvSpPr>
          <p:cNvPr id="1834649610" name="TextBox 8"/>
          <p:cNvSpPr txBox="1"/>
          <p:nvPr/>
        </p:nvSpPr>
        <p:spPr bwMode="auto">
          <a:xfrm>
            <a:off x="731520" y="5806440"/>
            <a:ext cx="10728654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95959"/>
                </a:solidFill>
                <a:latin typeface="Calibri"/>
              </a:defRPr>
            </a:pPr>
            <a:r>
              <a:rPr/>
              <a:t>Visual Distinctions: (a) Raw Hazy is pale and contrast-deprived; (b) Reference Paper creates blotchy sky halos and over-darkens foreground structures; (c) Classical DCP exhibits yellow/green sky posterization; (d) Our Method achieves balanced contrast and clean contours, yielding 7 valid detections vs 4-5 for other methods.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815442" name="TextBox 1"/>
          <p:cNvSpPr txBox="1"/>
          <p:nvPr/>
        </p:nvSpPr>
        <p:spPr bwMode="auto">
          <a:xfrm>
            <a:off x="731520" y="411480"/>
            <a:ext cx="1072865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4E78"/>
                </a:solidFill>
                <a:latin typeface="Calibri"/>
              </a:defRPr>
            </a:pPr>
            <a:r>
              <a:rPr/>
              <a:t>EMPIRICAL EVALUATION</a:t>
            </a:r>
            <a:endParaRPr/>
          </a:p>
          <a:p>
            <a:pPr>
              <a:spcBef>
                <a:spcPts val="300"/>
              </a:spcBef>
              <a:defRPr sz="2400" b="1">
                <a:solidFill>
                  <a:srgbClr val="262626"/>
                </a:solidFill>
                <a:latin typeface="Calibri"/>
              </a:defRPr>
            </a:pPr>
            <a:r>
              <a:rPr/>
              <a:t>Quantitative Benchmark: PSNR Fidelity &amp; Detection Performance</a:t>
            </a:r>
            <a:endParaRPr/>
          </a:p>
        </p:txBody>
      </p:sp>
      <p:sp>
        <p:nvSpPr>
          <p:cNvPr id="237320383" name="Rectangle 2"/>
          <p:cNvSpPr/>
          <p:nvPr/>
        </p:nvSpPr>
        <p:spPr bwMode="auto">
          <a:xfrm>
            <a:off x="731520" y="1371600"/>
            <a:ext cx="10728654" cy="18288"/>
          </a:xfrm>
          <a:prstGeom prst="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948090715" name="Table 4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572768"/>
          <a:ext cx="10728654" cy="30632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681935"/>
                <a:gridCol w="1234440"/>
                <a:gridCol w="1325880"/>
                <a:gridCol w="1325880"/>
                <a:gridCol w="1325880"/>
                <a:gridCol w="1417320"/>
                <a:gridCol w="1417320"/>
              </a:tblGrid>
              <a:tr h="382905">
                <a:tc>
                  <a:txBody>
                    <a:bodyPr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Evaluation Metric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Raw Hazy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Reference Paper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Classical DCP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Our Method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Gain vs Hazy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Gain vs Paper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PSNR (In-Domain Full Val, dB)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14.65 dB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26.42 dB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15.79 dB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26.71 dB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+12.06 dB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+0.29 dB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SSIM (Structural Similarity)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0.8250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0.9482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0.7037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0.9485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+0.1235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+0.0003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AP@0.50 (Standard VOC)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0.4527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0.4415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0.4706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0.4891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+0.0364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+0.0476 (+4.8 pts)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AP@0.75 (Strict Boundary)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0.2593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0.2602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0.2825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0.2903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+0.0310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+0.0301 (+11.6%)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AP@0.95 (Ultra-Strict)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0.0163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0.0212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0.0209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0.0215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+0.0052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+0.0003 (+1.4%)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mAP@[0.50:0.95] (COCO Mean)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0.2657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0.2625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0.2811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0.2924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+0.0267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+0.0299 (+11.4%)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Total Detections Predicted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83,105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100,073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99,945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98,097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+14,992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050" b="1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rPr/>
                        <a:t>-1,976 (Cleaner)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78517842" name="Rounded Rectangle 5"/>
          <p:cNvSpPr/>
          <p:nvPr/>
        </p:nvSpPr>
        <p:spPr bwMode="auto">
          <a:xfrm>
            <a:off x="731520" y="4736592"/>
            <a:ext cx="3429000" cy="15361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defRPr sz="1100" b="1">
                <a:solidFill>
                  <a:srgbClr val="1F4E78"/>
                </a:solidFill>
                <a:latin typeface="Calibri"/>
              </a:defRPr>
            </a:pPr>
            <a:r>
              <a:rPr/>
              <a:t>In-Domain Reconstruction (PSNR)</a:t>
            </a:r>
            <a:endParaRPr/>
          </a:p>
          <a:p>
            <a:pPr>
              <a:spcBef>
                <a:spcPts val="300"/>
              </a:spcBef>
              <a:defRPr sz="950">
                <a:solidFill>
                  <a:srgbClr val="595959"/>
                </a:solidFill>
                <a:latin typeface="Calibri"/>
              </a:defRPr>
            </a:pPr>
            <a:r>
              <a:rPr/>
              <a:t>On 1,500 paired Foggy Cityscapes scenes @ 2048x1024, our method achieves 26.71 dB PSNR (+0.29 dB over the paper). Classical DCP yields only 15.79 dB due to unnatural texture and color distortions.</a:t>
            </a:r>
            <a:endParaRPr/>
          </a:p>
        </p:txBody>
      </p:sp>
      <p:sp>
        <p:nvSpPr>
          <p:cNvPr id="980994467" name="Rounded Rectangle 6"/>
          <p:cNvSpPr/>
          <p:nvPr/>
        </p:nvSpPr>
        <p:spPr bwMode="auto">
          <a:xfrm>
            <a:off x="4379976" y="4736592"/>
            <a:ext cx="3429000" cy="15361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defRPr sz="1100" b="1">
                <a:solidFill>
                  <a:srgbClr val="1F4E78"/>
                </a:solidFill>
                <a:latin typeface="Calibri"/>
              </a:defRPr>
            </a:pPr>
            <a:r>
              <a:rPr/>
              <a:t>Real Fog Task Utility (AP@0.50)</a:t>
            </a:r>
            <a:endParaRPr/>
          </a:p>
          <a:p>
            <a:pPr>
              <a:spcBef>
                <a:spcPts val="300"/>
              </a:spcBef>
              <a:defRPr sz="950">
                <a:solidFill>
                  <a:srgbClr val="595959"/>
                </a:solidFill>
                <a:latin typeface="Calibri"/>
              </a:defRPr>
            </a:pPr>
            <a:r>
              <a:rPr/>
              <a:t>While the reference paper reduces detection accuracy on real fog (-0.0112 AP@0.50 vs raw hazy), our method provides genuine visual recovery (+0.0364 AP@0.50, beating classical DCP by +0.0185).</a:t>
            </a:r>
            <a:endParaRPr/>
          </a:p>
        </p:txBody>
      </p:sp>
      <p:sp>
        <p:nvSpPr>
          <p:cNvPr id="1754249439" name="Rounded Rectangle 7"/>
          <p:cNvSpPr/>
          <p:nvPr/>
        </p:nvSpPr>
        <p:spPr bwMode="auto">
          <a:xfrm>
            <a:off x="8028432" y="4736592"/>
            <a:ext cx="3429000" cy="15361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>
              <a:defRPr sz="1100" b="1">
                <a:solidFill>
                  <a:srgbClr val="1F4E78"/>
                </a:solidFill>
                <a:latin typeface="Calibri"/>
              </a:defRPr>
            </a:pPr>
            <a:r>
              <a:rPr/>
              <a:t>Boundary Localization Precision</a:t>
            </a:r>
            <a:endParaRPr/>
          </a:p>
          <a:p>
            <a:pPr>
              <a:spcBef>
                <a:spcPts val="300"/>
              </a:spcBef>
              <a:defRPr sz="950">
                <a:solidFill>
                  <a:srgbClr val="595959"/>
                </a:solidFill>
                <a:latin typeface="Calibri"/>
              </a:defRPr>
            </a:pPr>
            <a:r>
              <a:rPr/>
              <a:t>Under strict IoU criteria (AP@0.75), our method delivers an 11.6% relative gain over the reference paper (+0.0301 AP) while predicting 1,976 fewer false-positive boxes.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239115" name="TextBox 1"/>
          <p:cNvSpPr txBox="1"/>
          <p:nvPr/>
        </p:nvSpPr>
        <p:spPr bwMode="auto">
          <a:xfrm>
            <a:off x="731520" y="411480"/>
            <a:ext cx="1072865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4E78"/>
                </a:solidFill>
                <a:latin typeface="Calibri"/>
              </a:defRPr>
            </a:pPr>
            <a:r>
              <a:rPr/>
              <a:t>DEPLOYMENT &amp; EFFICIENCY</a:t>
            </a:r>
            <a:endParaRPr/>
          </a:p>
          <a:p>
            <a:pPr>
              <a:spcBef>
                <a:spcPts val="300"/>
              </a:spcBef>
              <a:defRPr sz="2400" b="1">
                <a:solidFill>
                  <a:srgbClr val="262626"/>
                </a:solidFill>
                <a:latin typeface="Calibri"/>
              </a:defRPr>
            </a:pPr>
            <a:r>
              <a:rPr/>
              <a:t>Model Complexity &amp; Operational Footprint</a:t>
            </a:r>
            <a:endParaRPr/>
          </a:p>
        </p:txBody>
      </p:sp>
      <p:sp>
        <p:nvSpPr>
          <p:cNvPr id="769673200" name="Rectangle 2"/>
          <p:cNvSpPr/>
          <p:nvPr/>
        </p:nvSpPr>
        <p:spPr bwMode="auto">
          <a:xfrm>
            <a:off x="731520" y="1371600"/>
            <a:ext cx="10728654" cy="18288"/>
          </a:xfrm>
          <a:prstGeom prst="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681269724" name="Table 4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600200"/>
          <a:ext cx="10728654" cy="24688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681935"/>
              </a:tblGrid>
              <a:tr h="493776">
                <a:tc>
                  <a:txBody>
                    <a:bodyPr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Deployment Metric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Reference Paper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Our Method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Advantage</a:t>
                      </a:r>
                      <a:endParaRPr/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</a:tr>
              <a:tr h="493776">
                <a:tc>
                  <a:txBody>
                    <a:bodyPr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Total Model Parameters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26.4 M (26,378,804)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7.8 M (7,766,084)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70.6% parameter reduction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93776">
                <a:tc>
                  <a:txBody>
                    <a:bodyPr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Active Models in Memory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4 (1 Classifier + 3 Dehazers)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1 (Single Unified Model)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3.4x lower VRAM footprint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Inference Latency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240 ms / image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230 ms / image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Faster runtime execution</a:t>
                      </a:r>
                      <a:endParaRPr/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93776">
                <a:tc>
                  <a:txBody>
                    <a:bodyPr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Downstream Detector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rPr/>
                        <a:t>Fine-tuned / Coupled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100" b="1">
                          <a:solidFill>
                            <a:srgbClr val="143250"/>
                          </a:solidFill>
                          <a:latin typeface="Calibri"/>
                        </a:defRPr>
                      </a:pPr>
                      <a:r>
                        <a:rPr/>
                        <a:t>100% Frozen Standard</a:t>
                      </a:r>
                      <a:endParaRPr/>
                    </a:p>
                  </a:txBody>
                  <a:tcPr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p>
                      <a:pPr>
                        <a:defRPr sz="1100" b="1">
                          <a:solidFill>
                            <a:srgbClr val="22703C"/>
                          </a:solidFill>
                          <a:latin typeface="Calibri"/>
                        </a:defRPr>
                      </a:pPr>
                      <a:r>
                        <a:rPr/>
                        <a:t>Universal plug-and-play modularity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7842939" name="Rounded Rectangle 5"/>
          <p:cNvSpPr/>
          <p:nvPr/>
        </p:nvSpPr>
        <p:spPr bwMode="auto">
          <a:xfrm>
            <a:off x="731520" y="4343400"/>
            <a:ext cx="3429000" cy="1874519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200" b="1">
                <a:solidFill>
                  <a:srgbClr val="1F4E78"/>
                </a:solidFill>
                <a:latin typeface="Calibri"/>
              </a:defRPr>
            </a:pPr>
            <a:r>
              <a:rPr/>
              <a:t>Single Unified Backbone</a:t>
            </a:r>
            <a:endParaRPr/>
          </a:p>
          <a:p>
            <a:pPr>
              <a:spcBef>
                <a:spcPts val="6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Instead of maintaining 4 distinct neural networks in VRAM (classifier + 3 branches), our architecture relies on a single compact spatial backbone with depth-adaptive gating.</a:t>
            </a:r>
            <a:endParaRPr/>
          </a:p>
        </p:txBody>
      </p:sp>
      <p:sp>
        <p:nvSpPr>
          <p:cNvPr id="1904535992" name="Rounded Rectangle 6"/>
          <p:cNvSpPr/>
          <p:nvPr/>
        </p:nvSpPr>
        <p:spPr bwMode="auto">
          <a:xfrm>
            <a:off x="4379976" y="4343400"/>
            <a:ext cx="3429000" cy="1874519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200" b="1">
                <a:solidFill>
                  <a:srgbClr val="1F4E78"/>
                </a:solidFill>
                <a:latin typeface="Calibri"/>
              </a:defRPr>
            </a:pPr>
            <a:r>
              <a:rPr/>
              <a:t>Universal Plug-and-Play</a:t>
            </a:r>
            <a:endParaRPr/>
          </a:p>
          <a:p>
            <a:pPr>
              <a:spcBef>
                <a:spcPts val="6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The downstream YOLO detector is completely frozen and unmodified. Our dehazer functions as an impartial optical pre-processor compatible with any off-the-shelf vision system.</a:t>
            </a:r>
            <a:endParaRPr/>
          </a:p>
        </p:txBody>
      </p:sp>
      <p:sp>
        <p:nvSpPr>
          <p:cNvPr id="936756351" name="Rounded Rectangle 7"/>
          <p:cNvSpPr/>
          <p:nvPr/>
        </p:nvSpPr>
        <p:spPr bwMode="auto">
          <a:xfrm>
            <a:off x="8028432" y="4343400"/>
            <a:ext cx="3429000" cy="1874519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defRPr sz="1200" b="1">
                <a:solidFill>
                  <a:srgbClr val="1F4E78"/>
                </a:solidFill>
                <a:latin typeface="Calibri"/>
              </a:defRPr>
            </a:pPr>
            <a:r>
              <a:rPr/>
              <a:t>Edge &amp; Real-Time Viability</a:t>
            </a:r>
            <a:endParaRPr/>
          </a:p>
          <a:p>
            <a:pPr>
              <a:spcBef>
                <a:spcPts val="600"/>
              </a:spcBef>
              <a:defRPr sz="1000">
                <a:solidFill>
                  <a:srgbClr val="595959"/>
                </a:solidFill>
                <a:latin typeface="Calibri"/>
              </a:defRPr>
            </a:pPr>
            <a:r>
              <a:rPr/>
              <a:t>Delivers superior restoration and detection accuracy while reducing parameters by 70% and inference latency to 230 ms, making it feasible for embedded and automotive applications.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2026-10-03T13:21:31Z</dcterms:modified>
  <cp:category/>
</cp:coreProperties>
</file>